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33bc6e4a780d4d69" /><Relationship Type="http://schemas.openxmlformats.org/officeDocument/2006/relationships/extended-properties" Target="/docProps/app.xml" Id="R2d79f6625aa24df1" /><Relationship Type="http://schemas.openxmlformats.org/officeDocument/2006/relationships/officeDocument" Target="/ppt/presentation.xml" Id="Rd89f012150f643f0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8865590c85384705"/>
  </p:sldMasterIdLst>
  <p:notesMasterIdLst>
    <p:notesMasterId xmlns:r="http://schemas.openxmlformats.org/officeDocument/2006/relationships" r:id="R11a86e67ff9745b7"/>
  </p:notesMasterIdLst>
  <p:sldIdLst>
    <p:sldId xmlns:r="http://schemas.openxmlformats.org/officeDocument/2006/relationships" id="256" r:id="R72afd28de7054e8e"/>
    <p:sldId xmlns:r="http://schemas.openxmlformats.org/officeDocument/2006/relationships" id="257" r:id="Re2780e3234be48da"/>
    <p:sldId xmlns:r="http://schemas.openxmlformats.org/officeDocument/2006/relationships" id="258" r:id="Red8362c99591402a"/>
    <p:sldId xmlns:r="http://schemas.openxmlformats.org/officeDocument/2006/relationships" id="259" r:id="Raf8f585b8aea43bb"/>
    <p:sldId xmlns:r="http://schemas.openxmlformats.org/officeDocument/2006/relationships" id="260" r:id="R0f91aca69bd0442f"/>
    <p:sldId xmlns:r="http://schemas.openxmlformats.org/officeDocument/2006/relationships" id="261" r:id="Rfb3e891c80224aed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772b9ba4e940461e" /><Relationship Type="http://schemas.openxmlformats.org/officeDocument/2006/relationships/slideMaster" Target="/ppt/slideMasters/slideMaster1.xml" Id="R8865590c85384705" /><Relationship Type="http://schemas.openxmlformats.org/officeDocument/2006/relationships/notesMaster" Target="/ppt/notesMasters/notesMaster1.xml" Id="R11a86e67ff9745b7" /><Relationship Type="http://schemas.openxmlformats.org/officeDocument/2006/relationships/presProps" Target="/ppt/presProps.xml" Id="Rc0624b4f4c8247b0" /><Relationship Type="http://schemas.openxmlformats.org/officeDocument/2006/relationships/tableStyles" Target="/ppt/tableStyles.xml" Id="Rec3688db3ab847ac" /><Relationship Type="http://schemas.openxmlformats.org/officeDocument/2006/relationships/slide" Target="/ppt/slides/slide1.xml" Id="R72afd28de7054e8e" /><Relationship Type="http://schemas.openxmlformats.org/officeDocument/2006/relationships/slide" Target="/ppt/slides/slide2.xml" Id="Re2780e3234be48da" /><Relationship Type="http://schemas.openxmlformats.org/officeDocument/2006/relationships/slide" Target="/ppt/slides/slide3.xml" Id="Red8362c99591402a" /><Relationship Type="http://schemas.openxmlformats.org/officeDocument/2006/relationships/slide" Target="/ppt/slides/slide4.xml" Id="Raf8f585b8aea43bb" /><Relationship Type="http://schemas.openxmlformats.org/officeDocument/2006/relationships/slide" Target="/ppt/slides/slide5.xml" Id="R0f91aca69bd0442f" /><Relationship Type="http://schemas.openxmlformats.org/officeDocument/2006/relationships/slide" Target="/ppt/slides/slide6.xml" Id="Rfb3e891c80224aed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9e8bcb9f633341f3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a1c6d68a97b449bc" /><Relationship Type="http://schemas.openxmlformats.org/officeDocument/2006/relationships/notesMaster" Target="/ppt/notesMasters/notesMaster1.xml" Id="R86401be1edb7436a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5549df8b4d7f4dbd" /><Relationship Type="http://schemas.openxmlformats.org/officeDocument/2006/relationships/notesMaster" Target="/ppt/notesMasters/notesMaster1.xml" Id="Rfd472385d3d048f3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9f59fbab3e5c4c5e" /><Relationship Type="http://schemas.openxmlformats.org/officeDocument/2006/relationships/notesMaster" Target="/ppt/notesMasters/notesMaster1.xml" Id="Rb0c5d60f3c0d46e1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7359be51c6a54523" /><Relationship Type="http://schemas.openxmlformats.org/officeDocument/2006/relationships/notesMaster" Target="/ppt/notesMasters/notesMaster1.xml" Id="R344dc1a6849048cc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15833db01a214701" /><Relationship Type="http://schemas.openxmlformats.org/officeDocument/2006/relationships/notesMaster" Target="/ppt/notesMasters/notesMaster1.xml" Id="R5f070112a8c942f5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4a98bab5a71f4b34" /><Relationship Type="http://schemas.openxmlformats.org/officeDocument/2006/relationships/notesMaster" Target="/ppt/notesMasters/notesMaster1.xml" Id="R7a07710471f54012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result.json#/domain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result.json#/domain/economy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result.json#/domain/experiment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result.json#/domain/experiment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result.json#/domain/economy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result.json#/domain/rollback</a:t>
            </a:r>
          </a:p>
          <a:p xmlns:a="http://schemas.openxmlformats.org/drawingml/2006/main">
            <a:r>
              <a:t>- approval-snapshot.json#/responsibleGates/1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692aa71b067450b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661135fe3b304625" /><Relationship Type="http://schemas.openxmlformats.org/officeDocument/2006/relationships/slideLayout" Target="/ppt/slideLayouts/slideLayout1.xml" Id="Ra8cf2b1844ed4bfd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a8cf2b1844ed4bfd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f24e4200daf4cc2" /><Relationship Type="http://schemas.openxmlformats.org/officeDocument/2006/relationships/notesSlide" Target="/ppt/notesSlides/notesSlide1.xml" Id="R4c594e1315574870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1ae0dcb2883406e" /><Relationship Type="http://schemas.openxmlformats.org/officeDocument/2006/relationships/notesSlide" Target="/ppt/notesSlides/notesSlide2.xml" Id="R8dff89e098404e73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a4fea6ed33344f6" /><Relationship Type="http://schemas.openxmlformats.org/officeDocument/2006/relationships/notesSlide" Target="/ppt/notesSlides/notesSlide3.xml" Id="R31c5b50f65ef4cca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840c58b150447c9" /><Relationship Type="http://schemas.openxmlformats.org/officeDocument/2006/relationships/notesSlide" Target="/ppt/notesSlides/notesSlide4.xml" Id="R126c51a847614f6b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05397062ff94309" /><Relationship Type="http://schemas.openxmlformats.org/officeDocument/2006/relationships/notesSlide" Target="/ppt/notesSlides/notesSlide5.xml" Id="Rdfe0287f9a7c4a02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c5f9212275d49f0" /><Relationship Type="http://schemas.openxmlformats.org/officeDocument/2006/relationships/notesSlide" Target="/ppt/notesSlides/notesSlide6.xml" Id="R787afc45b41d4ec6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cover-kicker">
            <a:extLst xmlns:a="http://schemas.openxmlformats.org/drawingml/2006/main">
              <a:ext uri="{FF2B5EF4-FFF2-40B4-BE49-F238E27FC236}">
                <a16:creationId xmlns:a16="http://schemas.microsoft.com/office/drawing/2014/main" id="{E6356420-9CFD-439D-AB4A-A0EE7716E1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14350"/>
            <a:ext cx="6286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3D8DFF"/>
                </a:solidFill>
                <a:latin typeface="D2Coding"/>
                <a:ea typeface="D2Coding"/>
                <a:cs typeface="D2Coding"/>
              </a:defRPr>
            </a:pPr>
            <a:r>
              <a:rPr sz="1200" b="1">
                <a:solidFill>
                  <a:srgbClr val="3D8DFF"/>
                </a:solidFill>
                <a:latin typeface="D2Coding"/>
                <a:ea typeface="D2Coding"/>
                <a:cs typeface="D2Coding"/>
              </a:rPr>
              <a:t>GAME DESIGN · EVIDENCE BRIEF</a:t>
            </a:r>
          </a:p>
        </p:txBody>
      </p:sp>
      <p:sp>
        <p:nvSpPr>
          <p:cNvPr id="2" name="cover-title">
            <a:extLst xmlns:a="http://schemas.openxmlformats.org/drawingml/2006/main">
              <a:ext uri="{FF2B5EF4-FFF2-40B4-BE49-F238E27FC236}">
                <a16:creationId xmlns:a16="http://schemas.microsoft.com/office/drawing/2014/main" id="{E8D70ED5-9FEF-41C1-9B56-869726535F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714500"/>
            <a:ext cx="7239000" cy="1905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4350" b="1">
                <a:solidFill>
                  <a:srgbClr val="0F172A"/>
                </a:solidFill>
                <a:latin typeface="D2Coding"/>
                <a:ea typeface="D2Coding"/>
                <a:cs typeface="D2Coding"/>
              </a:defRPr>
            </a:pPr>
            <a:r>
              <a:rPr sz="4350" b="1">
                <a:solidFill>
                  <a:srgbClr val="0F172A"/>
                </a:solidFill>
                <a:latin typeface="D2Coding"/>
                <a:ea typeface="D2Coding"/>
                <a:cs typeface="D2Coding"/>
              </a:rPr>
              <a:t>라이브 서비스 RPG</a:t>
            </a:r>
          </a:p>
          <a:p xmlns:a="http://schemas.openxmlformats.org/drawingml/2006/main">
            <a:pPr algn="l">
              <a:defRPr sz="4350" b="1">
                <a:solidFill>
                  <a:srgbClr val="0F172A"/>
                </a:solidFill>
                <a:latin typeface="D2Coding"/>
                <a:ea typeface="D2Coding"/>
                <a:cs typeface="D2Coding"/>
              </a:defRPr>
            </a:pPr>
            <a:r>
              <a:rPr sz="4350" b="1">
                <a:solidFill>
                  <a:srgbClr val="0F172A"/>
                </a:solidFill>
                <a:latin typeface="D2Coding"/>
                <a:ea typeface="D2Coding"/>
                <a:cs typeface="D2Coding"/>
              </a:rPr>
              <a:t>경제 운영 브리프</a:t>
            </a:r>
          </a:p>
        </p:txBody>
      </p:sp>
      <p:sp>
        <p:nvSpPr>
          <p:cNvPr id="3" name="cover-subtitle">
            <a:extLst xmlns:a="http://schemas.openxmlformats.org/drawingml/2006/main">
              <a:ext uri="{FF2B5EF4-FFF2-40B4-BE49-F238E27FC236}">
                <a16:creationId xmlns:a16="http://schemas.microsoft.com/office/drawing/2014/main" id="{4032D48D-B4B0-4267-8941-E093A40C5F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095750"/>
            <a:ext cx="6667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475569"/>
                </a:solidFill>
                <a:latin typeface="D2Coding"/>
                <a:ea typeface="D2Coding"/>
                <a:cs typeface="D2Coding"/>
              </a:defRPr>
            </a:pPr>
            <a:r>
              <a:rPr sz="1800" b="0">
                <a:solidFill>
                  <a:srgbClr val="475569"/>
                </a:solidFill>
                <a:latin typeface="D2Coding"/>
                <a:ea typeface="D2Coding"/>
                <a:cs typeface="D2Coding"/>
              </a:rPr>
              <a:t>루프 · 실험 · 가드레일 · 롤백</a:t>
            </a:r>
          </a:p>
        </p:txBody>
      </p:sp>
      <p:sp>
        <p:nvSpPr>
          <p:cNvPr id="4" name="cover-panel">
            <a:extLst xmlns:a="http://schemas.openxmlformats.org/drawingml/2006/main">
              <a:ext uri="{FF2B5EF4-FFF2-40B4-BE49-F238E27FC236}">
                <a16:creationId xmlns:a16="http://schemas.microsoft.com/office/drawing/2014/main" id="{BF604451-826E-4CF6-8B76-059C24F5BB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514350"/>
            <a:ext cx="3143250" cy="5334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EDFA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5" name="cover-mark">
            <a:extLst xmlns:a="http://schemas.openxmlformats.org/drawingml/2006/main">
              <a:ext uri="{FF2B5EF4-FFF2-40B4-BE49-F238E27FC236}">
                <a16:creationId xmlns:a16="http://schemas.microsoft.com/office/drawing/2014/main" id="{B81C99F9-620D-4217-BFFB-CEF7898BB5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076450"/>
            <a:ext cx="25717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5400" b="1">
                <a:solidFill>
                  <a:srgbClr val="3D8DFF"/>
                </a:solidFill>
                <a:latin typeface="D2Coding"/>
                <a:ea typeface="D2Coding"/>
                <a:cs typeface="D2Coding"/>
              </a:defRPr>
            </a:pPr>
            <a:r>
              <a:rPr sz="5400" b="1">
                <a:solidFill>
                  <a:srgbClr val="3D8DFF"/>
                </a:solidFill>
                <a:latin typeface="D2Coding"/>
                <a:ea typeface="D2Coding"/>
                <a:cs typeface="D2Coding"/>
              </a:rPr>
              <a:t>5,000</a:t>
            </a:r>
          </a:p>
        </p:txBody>
      </p:sp>
      <p:sp>
        <p:nvSpPr>
          <p:cNvPr id="6" name="cover-caption">
            <a:extLst xmlns:a="http://schemas.openxmlformats.org/drawingml/2006/main">
              <a:ext uri="{FF2B5EF4-FFF2-40B4-BE49-F238E27FC236}">
                <a16:creationId xmlns:a16="http://schemas.microsoft.com/office/drawing/2014/main" id="{EA8DAF40-C3BE-45C9-9555-395A67791F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3638550"/>
            <a:ext cx="25717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75" b="0">
                <a:solidFill>
                  <a:srgbClr val="475569"/>
                </a:solidFill>
                <a:latin typeface="D2Coding"/>
                <a:ea typeface="D2Coding"/>
                <a:cs typeface="D2Coding"/>
              </a:defRPr>
            </a:pPr>
            <a:r>
              <a:rPr sz="1575" b="0">
                <a:solidFill>
                  <a:srgbClr val="475569"/>
                </a:solidFill>
                <a:latin typeface="D2Coding"/>
                <a:ea typeface="D2Coding"/>
                <a:cs typeface="D2Coding"/>
              </a:rPr>
              <a:t>목표 보유량</a:t>
            </a:r>
          </a:p>
        </p:txBody>
      </p:sp>
    </p:spTree>
    <p:extLst>
      <p:ext uri="{BB962C8B-B14F-4D97-AF65-F5344CB8AC3E}">
        <p14:creationId xmlns:p14="http://schemas.microsoft.com/office/powerpoint/2010/main" val="1578555524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title-2">
            <a:extLst xmlns:a="http://schemas.openxmlformats.org/drawingml/2006/main">
              <a:ext uri="{FF2B5EF4-FFF2-40B4-BE49-F238E27FC236}">
                <a16:creationId xmlns:a16="http://schemas.microsoft.com/office/drawing/2014/main" id="{F419869B-D8D1-46DB-983F-670217D4A9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23850"/>
            <a:ext cx="109537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0F172A"/>
                </a:solidFill>
                <a:latin typeface="D2Coding"/>
                <a:ea typeface="D2Coding"/>
                <a:cs typeface="D2Coding"/>
              </a:defRPr>
            </a:pPr>
            <a:r>
              <a:rPr sz="2850" b="1">
                <a:solidFill>
                  <a:srgbClr val="0F172A"/>
                </a:solidFill>
                <a:latin typeface="D2Coding"/>
                <a:ea typeface="D2Coding"/>
                <a:cs typeface="D2Coding"/>
              </a:rPr>
              <a:t>경제 루프는 단순하고 검증 가능해야 한다</a:t>
            </a:r>
          </a:p>
        </p:txBody>
      </p:sp>
      <p:sp>
        <p:nvSpPr>
          <p:cNvPr id="2" name="number-2">
            <a:extLst xmlns:a="http://schemas.openxmlformats.org/drawingml/2006/main">
              <a:ext uri="{FF2B5EF4-FFF2-40B4-BE49-F238E27FC236}">
                <a16:creationId xmlns:a16="http://schemas.microsoft.com/office/drawing/2014/main" id="{C00563B4-9331-4C32-A22A-C841D80D45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334125"/>
            <a:ext cx="5524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95238"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75569"/>
                </a:solidFill>
                <a:latin typeface="D2Coding"/>
                <a:ea typeface="D2Coding"/>
                <a:cs typeface="D2Coding"/>
              </a:defRPr>
            </a:pPr>
            <a:r>
              <a:rPr sz="1050" b="0">
                <a:solidFill>
                  <a:srgbClr val="475569"/>
                </a:solidFill>
                <a:latin typeface="D2Coding"/>
                <a:ea typeface="D2Coding"/>
                <a:cs typeface="D2Coding"/>
              </a:rPr>
              <a:t>2</a:t>
            </a:r>
          </a:p>
        </p:txBody>
      </p:sp>
      <p:sp>
        <p:nvSpPr>
          <p:cNvPr id="3" name="half-body">
            <a:extLst xmlns:a="http://schemas.openxmlformats.org/drawingml/2006/main">
              <a:ext uri="{FF2B5EF4-FFF2-40B4-BE49-F238E27FC236}">
                <a16:creationId xmlns:a16="http://schemas.microsoft.com/office/drawing/2014/main" id="{48245E68-8C08-42AB-95D9-12B4DE0572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095500"/>
            <a:ext cx="5238750" cy="2857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0F172A"/>
                </a:solidFill>
                <a:latin typeface="D2Coding"/>
                <a:ea typeface="D2Coding"/>
                <a:cs typeface="D2Coding"/>
              </a:defRPr>
            </a:pPr>
            <a:r>
              <a:rPr sz="1875" b="0">
                <a:solidFill>
                  <a:srgbClr val="0F172A"/>
                </a:solidFill>
                <a:latin typeface="D2Coding"/>
                <a:ea typeface="D2Coding"/>
                <a:cs typeface="D2Coding"/>
              </a:rPr>
              <a:t>일일 미션에서 소프트 재화를 획득하고</a:t>
            </a:r>
          </a:p>
          <a:p xmlns:a="http://schemas.openxmlformats.org/drawingml/2006/main">
            <a:pPr algn="l">
              <a:defRPr sz="1875" b="0">
                <a:solidFill>
                  <a:srgbClr val="0F172A"/>
                </a:solidFill>
                <a:latin typeface="D2Coding"/>
                <a:ea typeface="D2Coding"/>
                <a:cs typeface="D2Coding"/>
              </a:defRPr>
            </a:pPr>
            <a:r>
              <a:rPr sz="1875" b="0">
                <a:solidFill>
                  <a:srgbClr val="0F172A"/>
                </a:solidFill>
                <a:latin typeface="D2Coding"/>
                <a:ea typeface="D2Coding"/>
                <a:cs typeface="D2Coding"/>
              </a:rPr>
              <a:t>업그레이드에 소비한다.</a:t>
            </a:r>
          </a:p>
          <a:p xmlns:a="http://schemas.openxmlformats.org/drawingml/2006/main">
            <a:pPr algn="l">
              <a:defRPr sz="1875" b="0">
                <a:solidFill>
                  <a:srgbClr val="0F172A"/>
                </a:solidFill>
                <a:latin typeface="D2Coding"/>
                <a:ea typeface="D2Coding"/>
                <a:cs typeface="D2Coding"/>
              </a:defRPr>
            </a:pPr>
            <a:r>
              <a:rPr sz="1875" b="0">
                <a:solidFill>
                  <a:srgbClr val="0F172A"/>
                </a:solidFill>
                <a:latin typeface="D2Coding"/>
                <a:ea typeface="D2Coding"/>
                <a:cs typeface="D2Coding"/>
              </a:rPr>
              <a:t>운영 기준 보유량은 5,000이다.</a:t>
            </a:r>
          </a:p>
        </p:txBody>
      </p:sp>
      <p:sp>
        <p:nvSpPr>
          <p:cNvPr id="4" name="half-visual">
            <a:extLst xmlns:a="http://schemas.openxmlformats.org/drawingml/2006/main">
              <a:ext uri="{FF2B5EF4-FFF2-40B4-BE49-F238E27FC236}">
                <a16:creationId xmlns:a16="http://schemas.microsoft.com/office/drawing/2014/main" id="{5CB201F8-B04A-46AE-B492-4573F32298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1381125"/>
            <a:ext cx="5505450" cy="457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5FB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5" name="half-signal">
            <a:extLst xmlns:a="http://schemas.openxmlformats.org/drawingml/2006/main">
              <a:ext uri="{FF2B5EF4-FFF2-40B4-BE49-F238E27FC236}">
                <a16:creationId xmlns:a16="http://schemas.microsoft.com/office/drawing/2014/main" id="{840C62B8-885B-45BC-BE9C-D3D8F00A8C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2324100"/>
            <a:ext cx="438150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5550" b="1">
                <a:solidFill>
                  <a:srgbClr val="3D8DFF"/>
                </a:solidFill>
                <a:latin typeface="D2Coding"/>
                <a:ea typeface="D2Coding"/>
                <a:cs typeface="D2Coding"/>
              </a:defRPr>
            </a:pPr>
            <a:r>
              <a:rPr sz="5550" b="1">
                <a:solidFill>
                  <a:srgbClr val="3D8DFF"/>
                </a:solidFill>
                <a:latin typeface="D2Coding"/>
                <a:ea typeface="D2Coding"/>
                <a:cs typeface="D2Coding"/>
              </a:rPr>
              <a:t>5,000</a:t>
            </a:r>
          </a:p>
        </p:txBody>
      </p:sp>
      <p:sp>
        <p:nvSpPr>
          <p:cNvPr id="6" name="half-caption">
            <a:extLst xmlns:a="http://schemas.openxmlformats.org/drawingml/2006/main">
              <a:ext uri="{FF2B5EF4-FFF2-40B4-BE49-F238E27FC236}">
                <a16:creationId xmlns:a16="http://schemas.microsoft.com/office/drawing/2014/main" id="{D575C0F1-619C-46D9-B808-65B9D29118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3810000"/>
            <a:ext cx="4381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0">
                <a:solidFill>
                  <a:srgbClr val="0F172A"/>
                </a:solidFill>
                <a:latin typeface="D2Coding"/>
                <a:ea typeface="D2Coding"/>
                <a:cs typeface="D2Coding"/>
              </a:defRPr>
            </a:pPr>
            <a:r>
              <a:rPr sz="1800" b="0">
                <a:solidFill>
                  <a:srgbClr val="0F172A"/>
                </a:solidFill>
                <a:latin typeface="D2Coding"/>
                <a:ea typeface="D2Coding"/>
                <a:cs typeface="D2Coding"/>
              </a:rPr>
              <a:t>목표 보유량</a:t>
            </a:r>
          </a:p>
        </p:txBody>
      </p:sp>
    </p:spTree>
    <p:extLst>
      <p:ext uri="{BB962C8B-B14F-4D97-AF65-F5344CB8AC3E}">
        <p14:creationId xmlns:p14="http://schemas.microsoft.com/office/powerpoint/2010/main" val="517825332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title-3">
            <a:extLst xmlns:a="http://schemas.openxmlformats.org/drawingml/2006/main">
              <a:ext uri="{FF2B5EF4-FFF2-40B4-BE49-F238E27FC236}">
                <a16:creationId xmlns:a16="http://schemas.microsoft.com/office/drawing/2014/main" id="{7A35BA27-2F5F-4A3E-AEA5-F132D5D64A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23850"/>
            <a:ext cx="109537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0F172A"/>
                </a:solidFill>
                <a:latin typeface="D2Coding"/>
                <a:ea typeface="D2Coding"/>
                <a:cs typeface="D2Coding"/>
              </a:defRPr>
            </a:pPr>
            <a:r>
              <a:rPr sz="2850" b="1">
                <a:solidFill>
                  <a:srgbClr val="0F172A"/>
                </a:solidFill>
                <a:latin typeface="D2Coding"/>
                <a:ea typeface="D2Coding"/>
                <a:cs typeface="D2Coding"/>
              </a:rPr>
              <a:t>한 변수만 바꾸는 실험</a:t>
            </a:r>
          </a:p>
        </p:txBody>
      </p:sp>
      <p:sp>
        <p:nvSpPr>
          <p:cNvPr id="2" name="number-3">
            <a:extLst xmlns:a="http://schemas.openxmlformats.org/drawingml/2006/main">
              <a:ext uri="{FF2B5EF4-FFF2-40B4-BE49-F238E27FC236}">
                <a16:creationId xmlns:a16="http://schemas.microsoft.com/office/drawing/2014/main" id="{B07DAA16-F35B-4D35-8870-12C9D26A48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334125"/>
            <a:ext cx="5524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95238"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75569"/>
                </a:solidFill>
                <a:latin typeface="D2Coding"/>
                <a:ea typeface="D2Coding"/>
                <a:cs typeface="D2Coding"/>
              </a:defRPr>
            </a:pPr>
            <a:r>
              <a:rPr sz="1050" b="0">
                <a:solidFill>
                  <a:srgbClr val="475569"/>
                </a:solidFill>
                <a:latin typeface="D2Coding"/>
                <a:ea typeface="D2Coding"/>
                <a:cs typeface="D2Coding"/>
              </a:rPr>
              <a:t>3</a:t>
            </a:r>
          </a:p>
        </p:txBody>
      </p:sp>
      <p:sp>
        <p:nvSpPr>
          <p:cNvPr id="3" name="connector-1">
            <a:extLst xmlns:a="http://schemas.openxmlformats.org/drawingml/2006/main">
              <a:ext uri="{FF2B5EF4-FFF2-40B4-BE49-F238E27FC236}">
                <a16:creationId xmlns:a16="http://schemas.microsoft.com/office/drawing/2014/main" id="{9AEBC2BF-CC9A-464D-8DB5-C53CAAD6AA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3162300"/>
            <a:ext cx="10477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connector-2">
            <a:extLst xmlns:a="http://schemas.openxmlformats.org/drawingml/2006/main">
              <a:ext uri="{FF2B5EF4-FFF2-40B4-BE49-F238E27FC236}">
                <a16:creationId xmlns:a16="http://schemas.microsoft.com/office/drawing/2014/main" id="{496CC445-8CC3-4800-B533-C2C53C7445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162300"/>
            <a:ext cx="10477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node-1">
            <a:extLst xmlns:a="http://schemas.openxmlformats.org/drawingml/2006/main">
              <a:ext uri="{FF2B5EF4-FFF2-40B4-BE49-F238E27FC236}">
                <a16:creationId xmlns:a16="http://schemas.microsoft.com/office/drawing/2014/main" id="{4298E314-79C1-4F65-B826-D6B53E354E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381250"/>
            <a:ext cx="2476500" cy="1619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  <p:txBody>
          <a:bodyPr xmlns:a="http://schemas.openxmlformats.org/drawingml/2006/main" lIns="38100" tIns="38100" rIns="38100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0F172A"/>
                </a:solidFill>
                <a:latin typeface="D2Coding"/>
                <a:ea typeface="D2Coding"/>
                <a:cs typeface="D2Coding"/>
              </a:defRPr>
            </a:pPr>
            <a:r>
              <a:rPr sz="1800" b="1">
                <a:solidFill>
                  <a:srgbClr val="0F172A"/>
                </a:solidFill>
                <a:latin typeface="D2Coding"/>
                <a:ea typeface="D2Coding"/>
                <a:cs typeface="D2Coding"/>
              </a:rPr>
              <a:t>현재 지급률</a:t>
            </a:r>
          </a:p>
        </p:txBody>
      </p:sp>
      <p:sp>
        <p:nvSpPr>
          <p:cNvPr id="6" name="node-2">
            <a:extLst xmlns:a="http://schemas.openxmlformats.org/drawingml/2006/main">
              <a:ext uri="{FF2B5EF4-FFF2-40B4-BE49-F238E27FC236}">
                <a16:creationId xmlns:a16="http://schemas.microsoft.com/office/drawing/2014/main" id="{4E3464C1-F00B-438C-9B1E-CAC174659F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2381250"/>
            <a:ext cx="2476500" cy="1619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EDFA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  <p:txBody>
          <a:bodyPr xmlns:a="http://schemas.openxmlformats.org/drawingml/2006/main" lIns="38100" tIns="38100" rIns="38100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0F172A"/>
                </a:solidFill>
                <a:latin typeface="D2Coding"/>
                <a:ea typeface="D2Coding"/>
                <a:cs typeface="D2Coding"/>
              </a:defRPr>
            </a:pPr>
            <a:r>
              <a:rPr sz="1800" b="1">
                <a:solidFill>
                  <a:srgbClr val="0F172A"/>
                </a:solidFill>
                <a:latin typeface="D2Coding"/>
                <a:ea typeface="D2Coding"/>
                <a:cs typeface="D2Coding"/>
              </a:rPr>
              <a:t>일일 미션 지급량</a:t>
            </a:r>
          </a:p>
        </p:txBody>
      </p:sp>
      <p:sp>
        <p:nvSpPr>
          <p:cNvPr id="7" name="node-3">
            <a:extLst xmlns:a="http://schemas.openxmlformats.org/drawingml/2006/main">
              <a:ext uri="{FF2B5EF4-FFF2-40B4-BE49-F238E27FC236}">
                <a16:creationId xmlns:a16="http://schemas.microsoft.com/office/drawing/2014/main" id="{588D7888-51FB-4264-9ABF-8F274B40F2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2381250"/>
            <a:ext cx="2476500" cy="1619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  <p:txBody>
          <a:bodyPr xmlns:a="http://schemas.openxmlformats.org/drawingml/2006/main" lIns="38100" tIns="38100" rIns="38100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0F172A"/>
                </a:solidFill>
                <a:latin typeface="D2Coding"/>
                <a:ea typeface="D2Coding"/>
                <a:cs typeface="D2Coding"/>
              </a:defRPr>
            </a:pPr>
            <a:r>
              <a:rPr sz="1800" b="1">
                <a:solidFill>
                  <a:srgbClr val="0F172A"/>
                </a:solidFill>
                <a:latin typeface="D2Coding"/>
                <a:ea typeface="D2Coding"/>
                <a:cs typeface="D2Coding"/>
              </a:rPr>
              <a:t>진행 체감</a:t>
            </a:r>
          </a:p>
        </p:txBody>
      </p:sp>
      <p:sp>
        <p:nvSpPr>
          <p:cNvPr id="8" name="diagram-footer">
            <a:extLst xmlns:a="http://schemas.openxmlformats.org/drawingml/2006/main">
              <a:ext uri="{FF2B5EF4-FFF2-40B4-BE49-F238E27FC236}">
                <a16:creationId xmlns:a16="http://schemas.microsoft.com/office/drawing/2014/main" id="{1B3344E4-DF81-4ADF-93F0-F30A756581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6250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475569"/>
                </a:solidFill>
                <a:latin typeface="D2Coding"/>
                <a:ea typeface="D2Coding"/>
                <a:cs typeface="D2Coding"/>
              </a:defRPr>
            </a:pPr>
            <a:r>
              <a:rPr sz="1500" b="0">
                <a:solidFill>
                  <a:srgbClr val="475569"/>
                </a:solidFill>
                <a:latin typeface="D2Coding"/>
                <a:ea typeface="D2Coding"/>
                <a:cs typeface="D2Coding"/>
              </a:rPr>
              <a:t>가설: 제한된 공급 조정은 인플레이션 없이 진행을 개선한다.</a:t>
            </a:r>
          </a:p>
        </p:txBody>
      </p:sp>
    </p:spTree>
    <p:extLst>
      <p:ext uri="{BB962C8B-B14F-4D97-AF65-F5344CB8AC3E}">
        <p14:creationId xmlns:p14="http://schemas.microsoft.com/office/powerpoint/2010/main" val="106368141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itle-4">
            <a:extLst xmlns:a="http://schemas.openxmlformats.org/drawingml/2006/main">
              <a:ext uri="{FF2B5EF4-FFF2-40B4-BE49-F238E27FC236}">
                <a16:creationId xmlns:a16="http://schemas.microsoft.com/office/drawing/2014/main" id="{0AE7D7C4-A043-4BD1-8034-4300E0D4B7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23850"/>
            <a:ext cx="109537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0F172A"/>
                </a:solidFill>
                <a:latin typeface="D2Coding"/>
                <a:ea typeface="D2Coding"/>
                <a:cs typeface="D2Coding"/>
              </a:defRPr>
            </a:pPr>
            <a:r>
              <a:rPr sz="2850" b="1">
                <a:solidFill>
                  <a:srgbClr val="0F172A"/>
                </a:solidFill>
                <a:latin typeface="D2Coding"/>
                <a:ea typeface="D2Coding"/>
                <a:cs typeface="D2Coding"/>
              </a:rPr>
              <a:t>실험 제어표</a:t>
            </a:r>
          </a:p>
        </p:txBody>
      </p:sp>
      <p:sp>
        <p:nvSpPr>
          <p:cNvPr id="2" name="number-4">
            <a:extLst xmlns:a="http://schemas.openxmlformats.org/drawingml/2006/main">
              <a:ext uri="{FF2B5EF4-FFF2-40B4-BE49-F238E27FC236}">
                <a16:creationId xmlns:a16="http://schemas.microsoft.com/office/drawing/2014/main" id="{BF0A1FE3-3C82-4A57-BB0C-5826D1D784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334125"/>
            <a:ext cx="5524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95238"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75569"/>
                </a:solidFill>
                <a:latin typeface="D2Coding"/>
                <a:ea typeface="D2Coding"/>
                <a:cs typeface="D2Coding"/>
              </a:defRPr>
            </a:pPr>
            <a:r>
              <a:rPr sz="1050" b="0">
                <a:solidFill>
                  <a:srgbClr val="475569"/>
                </a:solidFill>
                <a:latin typeface="D2Coding"/>
                <a:ea typeface="D2Coding"/>
                <a:cs typeface="D2Coding"/>
              </a:rPr>
              <a:t>4</a:t>
            </a:r>
          </a:p>
        </p:txBody>
      </p:sp>
      <p:sp>
        <p:nvSpPr>
          <p:cNvPr id="3" name="cell-0-0">
            <a:extLst xmlns:a="http://schemas.openxmlformats.org/drawingml/2006/main">
              <a:ext uri="{FF2B5EF4-FFF2-40B4-BE49-F238E27FC236}">
                <a16:creationId xmlns:a16="http://schemas.microsoft.com/office/drawing/2014/main" id="{A1EBF203-4116-4FF8-8365-4036865E57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428750"/>
            <a:ext cx="371475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EDFA"/>
          </a:solidFill>
          <a:ln xmlns:a="http://schemas.openxmlformats.org/drawingml/2006/main" w="9525">
            <a:solidFill>
              <a:srgbClr val="94A3B8"/>
            </a:solidFill>
            <a:prstDash val="solid"/>
          </a:ln>
        </p:spPr>
        <p:txBody>
          <a:bodyPr xmlns:a="http://schemas.openxmlformats.org/drawingml/2006/main" lIns="114300" tIns="95250" rIns="114300" bIns="952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0F172A"/>
                </a:solidFill>
                <a:latin typeface="D2Coding"/>
                <a:ea typeface="D2Coding"/>
                <a:cs typeface="D2Coding"/>
              </a:defRPr>
            </a:pPr>
            <a:r>
              <a:rPr sz="1500" b="1">
                <a:solidFill>
                  <a:srgbClr val="0F172A"/>
                </a:solidFill>
                <a:latin typeface="D2Coding"/>
                <a:ea typeface="D2Coding"/>
                <a:cs typeface="D2Coding"/>
              </a:rPr>
              <a:t>항목</a:t>
            </a:r>
          </a:p>
        </p:txBody>
      </p:sp>
      <p:sp>
        <p:nvSpPr>
          <p:cNvPr id="4" name="cell-0-1">
            <a:extLst xmlns:a="http://schemas.openxmlformats.org/drawingml/2006/main">
              <a:ext uri="{FF2B5EF4-FFF2-40B4-BE49-F238E27FC236}">
                <a16:creationId xmlns:a16="http://schemas.microsoft.com/office/drawing/2014/main" id="{58335D89-2AAE-44CC-8742-46F7628264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10050" y="1428750"/>
            <a:ext cx="758190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EDFA"/>
          </a:solidFill>
          <a:ln xmlns:a="http://schemas.openxmlformats.org/drawingml/2006/main" w="9525">
            <a:solidFill>
              <a:srgbClr val="94A3B8"/>
            </a:solidFill>
            <a:prstDash val="solid"/>
          </a:ln>
        </p:spPr>
        <p:txBody>
          <a:bodyPr xmlns:a="http://schemas.openxmlformats.org/drawingml/2006/main" lIns="114300" tIns="95250" rIns="114300" bIns="952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0F172A"/>
                </a:solidFill>
                <a:latin typeface="D2Coding"/>
                <a:ea typeface="D2Coding"/>
                <a:cs typeface="D2Coding"/>
              </a:defRPr>
            </a:pPr>
            <a:r>
              <a:rPr sz="1500" b="1">
                <a:solidFill>
                  <a:srgbClr val="0F172A"/>
                </a:solidFill>
                <a:latin typeface="D2Coding"/>
                <a:ea typeface="D2Coding"/>
                <a:cs typeface="D2Coding"/>
              </a:rPr>
              <a:t>계약</a:t>
            </a:r>
          </a:p>
        </p:txBody>
      </p:sp>
      <p:sp>
        <p:nvSpPr>
          <p:cNvPr id="5" name="cell-1-0">
            <a:extLst xmlns:a="http://schemas.openxmlformats.org/drawingml/2006/main">
              <a:ext uri="{FF2B5EF4-FFF2-40B4-BE49-F238E27FC236}">
                <a16:creationId xmlns:a16="http://schemas.microsoft.com/office/drawing/2014/main" id="{2B12B6E2-5D80-436F-BB68-736ACD36BB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133600"/>
            <a:ext cx="371475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94A3B8"/>
            </a:solidFill>
            <a:prstDash val="solid"/>
          </a:ln>
        </p:spPr>
        <p:txBody>
          <a:bodyPr xmlns:a="http://schemas.openxmlformats.org/drawingml/2006/main" lIns="114300" tIns="95250" rIns="114300" bIns="952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0F172A"/>
                </a:solidFill>
                <a:latin typeface="D2Coding"/>
                <a:ea typeface="D2Coding"/>
                <a:cs typeface="D2Coding"/>
              </a:defRPr>
            </a:pPr>
            <a:r>
              <a:rPr sz="1350" b="0">
                <a:solidFill>
                  <a:srgbClr val="0F172A"/>
                </a:solidFill>
                <a:latin typeface="D2Coding"/>
                <a:ea typeface="D2Coding"/>
                <a:cs typeface="D2Coding"/>
              </a:rPr>
              <a:t>대조군</a:t>
            </a:r>
          </a:p>
        </p:txBody>
      </p:sp>
      <p:sp>
        <p:nvSpPr>
          <p:cNvPr id="6" name="cell-1-1">
            <a:extLst xmlns:a="http://schemas.openxmlformats.org/drawingml/2006/main">
              <a:ext uri="{FF2B5EF4-FFF2-40B4-BE49-F238E27FC236}">
                <a16:creationId xmlns:a16="http://schemas.microsoft.com/office/drawing/2014/main" id="{FBC0483F-6C27-4C01-BCCC-D6299B8E7F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10050" y="2133600"/>
            <a:ext cx="758190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94A3B8"/>
            </a:solidFill>
            <a:prstDash val="solid"/>
          </a:ln>
        </p:spPr>
        <p:txBody>
          <a:bodyPr xmlns:a="http://schemas.openxmlformats.org/drawingml/2006/main" lIns="114300" tIns="95250" rIns="114300" bIns="952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0F172A"/>
                </a:solidFill>
                <a:latin typeface="D2Coding"/>
                <a:ea typeface="D2Coding"/>
                <a:cs typeface="D2Coding"/>
              </a:defRPr>
            </a:pPr>
            <a:r>
              <a:rPr sz="1350" b="0">
                <a:solidFill>
                  <a:srgbClr val="0F172A"/>
                </a:solidFill>
                <a:latin typeface="D2Coding"/>
                <a:ea typeface="D2Coding"/>
                <a:cs typeface="D2Coding"/>
              </a:rPr>
              <a:t>현재 지급률</a:t>
            </a:r>
          </a:p>
        </p:txBody>
      </p:sp>
      <p:sp>
        <p:nvSpPr>
          <p:cNvPr id="7" name="cell-2-0">
            <a:extLst xmlns:a="http://schemas.openxmlformats.org/drawingml/2006/main">
              <a:ext uri="{FF2B5EF4-FFF2-40B4-BE49-F238E27FC236}">
                <a16:creationId xmlns:a16="http://schemas.microsoft.com/office/drawing/2014/main" id="{A2CCED1E-2ADC-4C52-A4FE-B43A47347A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838450"/>
            <a:ext cx="371475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94A3B8"/>
            </a:solidFill>
            <a:prstDash val="solid"/>
          </a:ln>
        </p:spPr>
        <p:txBody>
          <a:bodyPr xmlns:a="http://schemas.openxmlformats.org/drawingml/2006/main" lIns="114300" tIns="95250" rIns="114300" bIns="952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0F172A"/>
                </a:solidFill>
                <a:latin typeface="D2Coding"/>
                <a:ea typeface="D2Coding"/>
                <a:cs typeface="D2Coding"/>
              </a:defRPr>
            </a:pPr>
            <a:r>
              <a:rPr sz="1350" b="0">
                <a:solidFill>
                  <a:srgbClr val="0F172A"/>
                </a:solidFill>
                <a:latin typeface="D2Coding"/>
                <a:ea typeface="D2Coding"/>
                <a:cs typeface="D2Coding"/>
              </a:rPr>
              <a:t>단일 변수</a:t>
            </a:r>
          </a:p>
        </p:txBody>
      </p:sp>
      <p:sp>
        <p:nvSpPr>
          <p:cNvPr id="8" name="cell-2-1">
            <a:extLst xmlns:a="http://schemas.openxmlformats.org/drawingml/2006/main">
              <a:ext uri="{FF2B5EF4-FFF2-40B4-BE49-F238E27FC236}">
                <a16:creationId xmlns:a16="http://schemas.microsoft.com/office/drawing/2014/main" id="{EB3AC1FA-CAE7-4427-8648-93B4EF05E0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10050" y="2838450"/>
            <a:ext cx="758190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94A3B8"/>
            </a:solidFill>
            <a:prstDash val="solid"/>
          </a:ln>
        </p:spPr>
        <p:txBody>
          <a:bodyPr xmlns:a="http://schemas.openxmlformats.org/drawingml/2006/main" lIns="114300" tIns="95250" rIns="114300" bIns="952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0F172A"/>
                </a:solidFill>
                <a:latin typeface="D2Coding"/>
                <a:ea typeface="D2Coding"/>
                <a:cs typeface="D2Coding"/>
              </a:defRPr>
            </a:pPr>
            <a:r>
              <a:rPr sz="1350" b="0">
                <a:solidFill>
                  <a:srgbClr val="0F172A"/>
                </a:solidFill>
                <a:latin typeface="D2Coding"/>
                <a:ea typeface="D2Coding"/>
                <a:cs typeface="D2Coding"/>
              </a:rPr>
              <a:t>일일 미션 지급량</a:t>
            </a:r>
          </a:p>
        </p:txBody>
      </p:sp>
      <p:sp>
        <p:nvSpPr>
          <p:cNvPr id="9" name="cell-3-0">
            <a:extLst xmlns:a="http://schemas.openxmlformats.org/drawingml/2006/main">
              <a:ext uri="{FF2B5EF4-FFF2-40B4-BE49-F238E27FC236}">
                <a16:creationId xmlns:a16="http://schemas.microsoft.com/office/drawing/2014/main" id="{9E804CF6-4CB2-4330-BDD8-6E5151B8E8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3543300"/>
            <a:ext cx="371475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94A3B8"/>
            </a:solidFill>
            <a:prstDash val="solid"/>
          </a:ln>
        </p:spPr>
        <p:txBody>
          <a:bodyPr xmlns:a="http://schemas.openxmlformats.org/drawingml/2006/main" lIns="114300" tIns="95250" rIns="114300" bIns="952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0F172A"/>
                </a:solidFill>
                <a:latin typeface="D2Coding"/>
                <a:ea typeface="D2Coding"/>
                <a:cs typeface="D2Coding"/>
              </a:defRPr>
            </a:pPr>
            <a:r>
              <a:rPr sz="1350" b="0">
                <a:solidFill>
                  <a:srgbClr val="0F172A"/>
                </a:solidFill>
                <a:latin typeface="D2Coding"/>
                <a:ea typeface="D2Coding"/>
                <a:cs typeface="D2Coding"/>
              </a:rPr>
              <a:t>가드레일</a:t>
            </a:r>
          </a:p>
        </p:txBody>
      </p:sp>
      <p:sp>
        <p:nvSpPr>
          <p:cNvPr id="10" name="cell-3-1">
            <a:extLst xmlns:a="http://schemas.openxmlformats.org/drawingml/2006/main">
              <a:ext uri="{FF2B5EF4-FFF2-40B4-BE49-F238E27FC236}">
                <a16:creationId xmlns:a16="http://schemas.microsoft.com/office/drawing/2014/main" id="{E6BFE7CF-8BA6-464E-84BC-D5C67E50B0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10050" y="3543300"/>
            <a:ext cx="758190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94A3B8"/>
            </a:solidFill>
            <a:prstDash val="solid"/>
          </a:ln>
        </p:spPr>
        <p:txBody>
          <a:bodyPr xmlns:a="http://schemas.openxmlformats.org/drawingml/2006/main" lIns="114300" tIns="95250" rIns="114300" bIns="952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0F172A"/>
                </a:solidFill>
                <a:latin typeface="D2Coding"/>
                <a:ea typeface="D2Coding"/>
                <a:cs typeface="D2Coding"/>
              </a:defRPr>
            </a:pPr>
            <a:r>
              <a:rPr sz="1350" b="0">
                <a:solidFill>
                  <a:srgbClr val="0F172A"/>
                </a:solidFill>
                <a:latin typeface="D2Coding"/>
                <a:ea typeface="D2Coding"/>
                <a:cs typeface="D2Coding"/>
              </a:rPr>
              <a:t>주간 인플레이션율</a:t>
            </a:r>
          </a:p>
        </p:txBody>
      </p:sp>
      <p:sp>
        <p:nvSpPr>
          <p:cNvPr id="11" name="cell-4-0">
            <a:extLst xmlns:a="http://schemas.openxmlformats.org/drawingml/2006/main">
              <a:ext uri="{FF2B5EF4-FFF2-40B4-BE49-F238E27FC236}">
                <a16:creationId xmlns:a16="http://schemas.microsoft.com/office/drawing/2014/main" id="{1FA4CBFE-2B15-4EA5-9B14-1426A38851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4248150"/>
            <a:ext cx="371475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94A3B8"/>
            </a:solidFill>
            <a:prstDash val="solid"/>
          </a:ln>
        </p:spPr>
        <p:txBody>
          <a:bodyPr xmlns:a="http://schemas.openxmlformats.org/drawingml/2006/main" lIns="114300" tIns="95250" rIns="114300" bIns="952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0F172A"/>
                </a:solidFill>
                <a:latin typeface="D2Coding"/>
                <a:ea typeface="D2Coding"/>
                <a:cs typeface="D2Coding"/>
              </a:defRPr>
            </a:pPr>
            <a:r>
              <a:rPr sz="1350" b="0">
                <a:solidFill>
                  <a:srgbClr val="0F172A"/>
                </a:solidFill>
                <a:latin typeface="D2Coding"/>
                <a:ea typeface="D2Coding"/>
                <a:cs typeface="D2Coding"/>
              </a:rPr>
              <a:t>중단 조건</a:t>
            </a:r>
          </a:p>
        </p:txBody>
      </p:sp>
      <p:sp>
        <p:nvSpPr>
          <p:cNvPr id="12" name="cell-4-1">
            <a:extLst xmlns:a="http://schemas.openxmlformats.org/drawingml/2006/main">
              <a:ext uri="{FF2B5EF4-FFF2-40B4-BE49-F238E27FC236}">
                <a16:creationId xmlns:a16="http://schemas.microsoft.com/office/drawing/2014/main" id="{D7E8DD20-58E4-4A1A-A2D0-865FA94591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10050" y="4248150"/>
            <a:ext cx="758190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94A3B8"/>
            </a:solidFill>
            <a:prstDash val="solid"/>
          </a:ln>
        </p:spPr>
        <p:txBody>
          <a:bodyPr xmlns:a="http://schemas.openxmlformats.org/drawingml/2006/main" lIns="114300" tIns="95250" rIns="114300" bIns="952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0F172A"/>
                </a:solidFill>
                <a:latin typeface="D2Coding"/>
                <a:ea typeface="D2Coding"/>
                <a:cs typeface="D2Coding"/>
              </a:defRPr>
            </a:pPr>
            <a:r>
              <a:rPr sz="1350" b="0">
                <a:solidFill>
                  <a:srgbClr val="0F172A"/>
                </a:solidFill>
                <a:latin typeface="D2Coding"/>
                <a:ea typeface="D2Coding"/>
                <a:cs typeface="D2Coding"/>
              </a:rPr>
              <a:t>가드레일 위반</a:t>
            </a:r>
          </a:p>
        </p:txBody>
      </p:sp>
    </p:spTree>
    <p:extLst>
      <p:ext uri="{BB962C8B-B14F-4D97-AF65-F5344CB8AC3E}">
        <p14:creationId xmlns:p14="http://schemas.microsoft.com/office/powerpoint/2010/main" val="1694841850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title-5">
            <a:extLst xmlns:a="http://schemas.openxmlformats.org/drawingml/2006/main">
              <a:ext uri="{FF2B5EF4-FFF2-40B4-BE49-F238E27FC236}">
                <a16:creationId xmlns:a16="http://schemas.microsoft.com/office/drawing/2014/main" id="{954AC569-BA54-471D-88B0-3A9EAA735F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23850"/>
            <a:ext cx="109537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0F172A"/>
                </a:solidFill>
                <a:latin typeface="D2Coding"/>
                <a:ea typeface="D2Coding"/>
                <a:cs typeface="D2Coding"/>
              </a:defRPr>
            </a:pPr>
            <a:r>
              <a:rPr sz="2850" b="1">
                <a:solidFill>
                  <a:srgbClr val="0F172A"/>
                </a:solidFill>
                <a:latin typeface="D2Coding"/>
                <a:ea typeface="D2Coding"/>
                <a:cs typeface="D2Coding"/>
              </a:rPr>
              <a:t>운영 가드레일</a:t>
            </a:r>
          </a:p>
        </p:txBody>
      </p:sp>
      <p:sp>
        <p:nvSpPr>
          <p:cNvPr id="2" name="number-5">
            <a:extLst xmlns:a="http://schemas.openxmlformats.org/drawingml/2006/main">
              <a:ext uri="{FF2B5EF4-FFF2-40B4-BE49-F238E27FC236}">
                <a16:creationId xmlns:a16="http://schemas.microsoft.com/office/drawing/2014/main" id="{9683147E-C802-463E-B2FF-54E9E11950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334125"/>
            <a:ext cx="5524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95238"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75569"/>
                </a:solidFill>
                <a:latin typeface="D2Coding"/>
                <a:ea typeface="D2Coding"/>
                <a:cs typeface="D2Coding"/>
              </a:defRPr>
            </a:pPr>
            <a:r>
              <a:rPr sz="1050" b="0">
                <a:solidFill>
                  <a:srgbClr val="475569"/>
                </a:solidFill>
                <a:latin typeface="D2Coding"/>
                <a:ea typeface="D2Coding"/>
                <a:cs typeface="D2Coding"/>
              </a:rPr>
              <a:t>5</a:t>
            </a:r>
          </a:p>
        </p:txBody>
      </p:sp>
      <p:sp>
        <p:nvSpPr>
          <p:cNvPr id="3" name="stat-panel-0">
            <a:extLst xmlns:a="http://schemas.openxmlformats.org/drawingml/2006/main">
              <a:ext uri="{FF2B5EF4-FFF2-40B4-BE49-F238E27FC236}">
                <a16:creationId xmlns:a16="http://schemas.microsoft.com/office/drawing/2014/main" id="{1000B9DF-064C-4CAC-8B3F-8F70A1725B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381250"/>
            <a:ext cx="3562350" cy="2952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stat-0">
            <a:extLst xmlns:a="http://schemas.openxmlformats.org/drawingml/2006/main">
              <a:ext uri="{FF2B5EF4-FFF2-40B4-BE49-F238E27FC236}">
                <a16:creationId xmlns:a16="http://schemas.microsoft.com/office/drawing/2014/main" id="{D41D4068-9FBB-4DE4-9F73-7E5701D656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048000"/>
            <a:ext cx="29908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4350" b="1">
                <a:solidFill>
                  <a:srgbClr val="0F172A"/>
                </a:solidFill>
                <a:latin typeface="D2Coding"/>
                <a:ea typeface="D2Coding"/>
                <a:cs typeface="D2Coding"/>
              </a:defRPr>
            </a:pPr>
            <a:r>
              <a:rPr sz="4350" b="1">
                <a:solidFill>
                  <a:srgbClr val="0F172A"/>
                </a:solidFill>
                <a:latin typeface="D2Coding"/>
                <a:ea typeface="D2Coding"/>
                <a:cs typeface="D2Coding"/>
              </a:rPr>
              <a:t>5,000</a:t>
            </a:r>
          </a:p>
        </p:txBody>
      </p:sp>
      <p:sp>
        <p:nvSpPr>
          <p:cNvPr id="5" name="stat-caption-0">
            <a:extLst xmlns:a="http://schemas.openxmlformats.org/drawingml/2006/main">
              <a:ext uri="{FF2B5EF4-FFF2-40B4-BE49-F238E27FC236}">
                <a16:creationId xmlns:a16="http://schemas.microsoft.com/office/drawing/2014/main" id="{652DEA83-2221-45E3-B53E-1F82B8CE30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191000"/>
            <a:ext cx="29908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0F172A"/>
                </a:solidFill>
                <a:latin typeface="D2Coding"/>
                <a:ea typeface="D2Coding"/>
                <a:cs typeface="D2Coding"/>
              </a:defRPr>
            </a:pPr>
            <a:r>
              <a:rPr sz="1575" b="0">
                <a:solidFill>
                  <a:srgbClr val="0F172A"/>
                </a:solidFill>
                <a:latin typeface="D2Coding"/>
                <a:ea typeface="D2Coding"/>
                <a:cs typeface="D2Coding"/>
              </a:rPr>
              <a:t>목표 보유량</a:t>
            </a:r>
          </a:p>
        </p:txBody>
      </p:sp>
      <p:sp>
        <p:nvSpPr>
          <p:cNvPr id="6" name="stat-panel-1">
            <a:extLst xmlns:a="http://schemas.openxmlformats.org/drawingml/2006/main">
              <a:ext uri="{FF2B5EF4-FFF2-40B4-BE49-F238E27FC236}">
                <a16:creationId xmlns:a16="http://schemas.microsoft.com/office/drawing/2014/main" id="{470D61F1-0D75-44E6-B9ED-181EB2E098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2381250"/>
            <a:ext cx="3562350" cy="2952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stat-1">
            <a:extLst xmlns:a="http://schemas.openxmlformats.org/drawingml/2006/main">
              <a:ext uri="{FF2B5EF4-FFF2-40B4-BE49-F238E27FC236}">
                <a16:creationId xmlns:a16="http://schemas.microsoft.com/office/drawing/2014/main" id="{0D715BFE-D147-48E1-9C63-BDC9D4C2FD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3048000"/>
            <a:ext cx="29908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4350" b="1">
                <a:solidFill>
                  <a:srgbClr val="0F172A"/>
                </a:solidFill>
                <a:latin typeface="D2Coding"/>
                <a:ea typeface="D2Coding"/>
                <a:cs typeface="D2Coding"/>
              </a:defRPr>
            </a:pPr>
            <a:r>
              <a:rPr sz="4350" b="1">
                <a:solidFill>
                  <a:srgbClr val="0F172A"/>
                </a:solidFill>
                <a:latin typeface="D2Coding"/>
                <a:ea typeface="D2Coding"/>
                <a:cs typeface="D2Coding"/>
              </a:rPr>
              <a:t>공개</a:t>
            </a:r>
          </a:p>
        </p:txBody>
      </p:sp>
      <p:sp>
        <p:nvSpPr>
          <p:cNvPr id="8" name="stat-caption-1">
            <a:extLst xmlns:a="http://schemas.openxmlformats.org/drawingml/2006/main">
              <a:ext uri="{FF2B5EF4-FFF2-40B4-BE49-F238E27FC236}">
                <a16:creationId xmlns:a16="http://schemas.microsoft.com/office/drawing/2014/main" id="{7193DDA4-3C66-4F16-90DA-81704DDFBD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4191000"/>
            <a:ext cx="29908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0F172A"/>
                </a:solidFill>
                <a:latin typeface="D2Coding"/>
                <a:ea typeface="D2Coding"/>
                <a:cs typeface="D2Coding"/>
              </a:defRPr>
            </a:pPr>
            <a:r>
              <a:rPr sz="1575" b="0">
                <a:solidFill>
                  <a:srgbClr val="0F172A"/>
                </a:solidFill>
                <a:latin typeface="D2Coding"/>
                <a:ea typeface="D2Coding"/>
                <a:cs typeface="D2Coding"/>
              </a:rPr>
              <a:t>확률</a:t>
            </a:r>
          </a:p>
        </p:txBody>
      </p:sp>
      <p:sp>
        <p:nvSpPr>
          <p:cNvPr id="9" name="stat-panel-2">
            <a:extLst xmlns:a="http://schemas.openxmlformats.org/drawingml/2006/main">
              <a:ext uri="{FF2B5EF4-FFF2-40B4-BE49-F238E27FC236}">
                <a16:creationId xmlns:a16="http://schemas.microsoft.com/office/drawing/2014/main" id="{0D7BB9B5-3488-458D-901D-A58F377408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3900" y="2381250"/>
            <a:ext cx="3562350" cy="2952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stat-2">
            <a:extLst xmlns:a="http://schemas.openxmlformats.org/drawingml/2006/main">
              <a:ext uri="{FF2B5EF4-FFF2-40B4-BE49-F238E27FC236}">
                <a16:creationId xmlns:a16="http://schemas.microsoft.com/office/drawing/2014/main" id="{DA52C00E-2277-490C-81EC-910C8C2639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3048000"/>
            <a:ext cx="29908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4350" b="1">
                <a:solidFill>
                  <a:srgbClr val="0F172A"/>
                </a:solidFill>
                <a:latin typeface="D2Coding"/>
                <a:ea typeface="D2Coding"/>
                <a:cs typeface="D2Coding"/>
              </a:defRPr>
            </a:pPr>
            <a:r>
              <a:rPr sz="4350" b="1">
                <a:solidFill>
                  <a:srgbClr val="0F172A"/>
                </a:solidFill>
                <a:latin typeface="D2Coding"/>
                <a:ea typeface="D2Coding"/>
                <a:cs typeface="D2Coding"/>
              </a:rPr>
              <a:t>숨김 없음</a:t>
            </a:r>
          </a:p>
        </p:txBody>
      </p:sp>
      <p:sp>
        <p:nvSpPr>
          <p:cNvPr id="11" name="stat-caption-2">
            <a:extLst xmlns:a="http://schemas.openxmlformats.org/drawingml/2006/main">
              <a:ext uri="{FF2B5EF4-FFF2-40B4-BE49-F238E27FC236}">
                <a16:creationId xmlns:a16="http://schemas.microsoft.com/office/drawing/2014/main" id="{49A7FFDD-6C42-47AC-ABB4-B6E7935416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4191000"/>
            <a:ext cx="29908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0F172A"/>
                </a:solidFill>
                <a:latin typeface="D2Coding"/>
                <a:ea typeface="D2Coding"/>
                <a:cs typeface="D2Coding"/>
              </a:defRPr>
            </a:pPr>
            <a:r>
              <a:rPr sz="1575" b="0">
                <a:solidFill>
                  <a:srgbClr val="0F172A"/>
                </a:solidFill>
                <a:latin typeface="D2Coding"/>
                <a:ea typeface="D2Coding"/>
                <a:cs typeface="D2Coding"/>
              </a:rPr>
              <a:t>환산</a:t>
            </a:r>
          </a:p>
        </p:txBody>
      </p:sp>
    </p:spTree>
    <p:extLst>
      <p:ext uri="{BB962C8B-B14F-4D97-AF65-F5344CB8AC3E}">
        <p14:creationId xmlns:p14="http://schemas.microsoft.com/office/powerpoint/2010/main" val="1594212215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title-6">
            <a:extLst xmlns:a="http://schemas.openxmlformats.org/drawingml/2006/main">
              <a:ext uri="{FF2B5EF4-FFF2-40B4-BE49-F238E27FC236}">
                <a16:creationId xmlns:a16="http://schemas.microsoft.com/office/drawing/2014/main" id="{ABB303DB-4442-4830-91B6-D2A6CFCD40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23850"/>
            <a:ext cx="109537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0F172A"/>
                </a:solidFill>
                <a:latin typeface="D2Coding"/>
                <a:ea typeface="D2Coding"/>
                <a:cs typeface="D2Coding"/>
              </a:defRPr>
            </a:pPr>
            <a:r>
              <a:rPr sz="2850" b="1">
                <a:solidFill>
                  <a:srgbClr val="0F172A"/>
                </a:solidFill>
                <a:latin typeface="D2Coding"/>
                <a:ea typeface="D2Coding"/>
                <a:cs typeface="D2Coding"/>
              </a:rPr>
              <a:t>위반 시 자동 롤백</a:t>
            </a:r>
          </a:p>
        </p:txBody>
      </p:sp>
      <p:sp>
        <p:nvSpPr>
          <p:cNvPr id="2" name="number-6">
            <a:extLst xmlns:a="http://schemas.openxmlformats.org/drawingml/2006/main">
              <a:ext uri="{FF2B5EF4-FFF2-40B4-BE49-F238E27FC236}">
                <a16:creationId xmlns:a16="http://schemas.microsoft.com/office/drawing/2014/main" id="{774F36CD-53D3-47BD-A6EC-8BE747D8A0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334125"/>
            <a:ext cx="5524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95238"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75569"/>
                </a:solidFill>
                <a:latin typeface="D2Coding"/>
                <a:ea typeface="D2Coding"/>
                <a:cs typeface="D2Coding"/>
              </a:defRPr>
            </a:pPr>
            <a:r>
              <a:rPr sz="1050" b="0">
                <a:solidFill>
                  <a:srgbClr val="475569"/>
                </a:solidFill>
                <a:latin typeface="D2Coding"/>
                <a:ea typeface="D2Coding"/>
                <a:cs typeface="D2Coding"/>
              </a:rPr>
              <a:t>6</a:t>
            </a:r>
          </a:p>
        </p:txBody>
      </p:sp>
      <p:sp>
        <p:nvSpPr>
          <p:cNvPr id="3" name="step-num-0">
            <a:extLst xmlns:a="http://schemas.openxmlformats.org/drawingml/2006/main">
              <a:ext uri="{FF2B5EF4-FFF2-40B4-BE49-F238E27FC236}">
                <a16:creationId xmlns:a16="http://schemas.microsoft.com/office/drawing/2014/main" id="{40F0F5CD-AC50-4705-B4E4-34E4D9CC96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19250"/>
            <a:ext cx="64770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EDF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0F172A"/>
                </a:solidFill>
                <a:latin typeface="D2Coding"/>
                <a:ea typeface="D2Coding"/>
                <a:cs typeface="D2Coding"/>
              </a:defRPr>
            </a:pPr>
            <a:r>
              <a:rPr sz="2325" b="1">
                <a:solidFill>
                  <a:srgbClr val="0F172A"/>
                </a:solidFill>
                <a:latin typeface="D2Coding"/>
                <a:ea typeface="D2Coding"/>
                <a:cs typeface="D2Coding"/>
              </a:rPr>
              <a:t>1</a:t>
            </a:r>
          </a:p>
        </p:txBody>
      </p:sp>
      <p:sp>
        <p:nvSpPr>
          <p:cNvPr id="4" name="step-0">
            <a:extLst xmlns:a="http://schemas.openxmlformats.org/drawingml/2006/main">
              <a:ext uri="{FF2B5EF4-FFF2-40B4-BE49-F238E27FC236}">
                <a16:creationId xmlns:a16="http://schemas.microsoft.com/office/drawing/2014/main" id="{53282B88-2F16-422B-ACB9-766A456679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5900" y="1619250"/>
            <a:ext cx="9525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F172A"/>
                </a:solidFill>
                <a:latin typeface="D2Coding"/>
                <a:ea typeface="D2Coding"/>
                <a:cs typeface="D2Coding"/>
              </a:defRPr>
            </a:pPr>
            <a:r>
              <a:rPr sz="1800" b="1">
                <a:solidFill>
                  <a:srgbClr val="0F172A"/>
                </a:solidFill>
                <a:latin typeface="D2Coding"/>
                <a:ea typeface="D2Coding"/>
                <a:cs typeface="D2Coding"/>
              </a:rPr>
              <a:t>가드레일 위반 감지</a:t>
            </a:r>
          </a:p>
        </p:txBody>
      </p:sp>
      <p:sp>
        <p:nvSpPr>
          <p:cNvPr id="5" name="step-num-1">
            <a:extLst xmlns:a="http://schemas.openxmlformats.org/drawingml/2006/main">
              <a:ext uri="{FF2B5EF4-FFF2-40B4-BE49-F238E27FC236}">
                <a16:creationId xmlns:a16="http://schemas.microsoft.com/office/drawing/2014/main" id="{8FDAFC85-29CE-44E9-8746-88B91C415B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857500"/>
            <a:ext cx="64770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EDF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0F172A"/>
                </a:solidFill>
                <a:latin typeface="D2Coding"/>
                <a:ea typeface="D2Coding"/>
                <a:cs typeface="D2Coding"/>
              </a:defRPr>
            </a:pPr>
            <a:r>
              <a:rPr sz="2325" b="1">
                <a:solidFill>
                  <a:srgbClr val="0F172A"/>
                </a:solidFill>
                <a:latin typeface="D2Coding"/>
                <a:ea typeface="D2Coding"/>
                <a:cs typeface="D2Coding"/>
              </a:rPr>
              <a:t>2</a:t>
            </a:r>
          </a:p>
        </p:txBody>
      </p:sp>
      <p:sp>
        <p:nvSpPr>
          <p:cNvPr id="6" name="step-1">
            <a:extLst xmlns:a="http://schemas.openxmlformats.org/drawingml/2006/main">
              <a:ext uri="{FF2B5EF4-FFF2-40B4-BE49-F238E27FC236}">
                <a16:creationId xmlns:a16="http://schemas.microsoft.com/office/drawing/2014/main" id="{2F0C0FAF-AD72-4D28-89D5-224221C763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5900" y="2857500"/>
            <a:ext cx="9525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F172A"/>
                </a:solidFill>
                <a:latin typeface="D2Coding"/>
                <a:ea typeface="D2Coding"/>
                <a:cs typeface="D2Coding"/>
              </a:defRPr>
            </a:pPr>
            <a:r>
              <a:rPr sz="1800" b="1">
                <a:solidFill>
                  <a:srgbClr val="0F172A"/>
                </a:solidFill>
                <a:latin typeface="D2Coding"/>
                <a:ea typeface="D2Coding"/>
                <a:cs typeface="D2Coding"/>
              </a:rPr>
              <a:t>마지막 정상 설정 복구</a:t>
            </a:r>
          </a:p>
        </p:txBody>
      </p:sp>
      <p:sp>
        <p:nvSpPr>
          <p:cNvPr id="7" name="step-num-2">
            <a:extLst xmlns:a="http://schemas.openxmlformats.org/drawingml/2006/main">
              <a:ext uri="{FF2B5EF4-FFF2-40B4-BE49-F238E27FC236}">
                <a16:creationId xmlns:a16="http://schemas.microsoft.com/office/drawing/2014/main" id="{02276F05-23CF-424C-AE11-7C51405DA4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095750"/>
            <a:ext cx="64770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EDF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0F172A"/>
                </a:solidFill>
                <a:latin typeface="D2Coding"/>
                <a:ea typeface="D2Coding"/>
                <a:cs typeface="D2Coding"/>
              </a:defRPr>
            </a:pPr>
            <a:r>
              <a:rPr sz="2325" b="1">
                <a:solidFill>
                  <a:srgbClr val="0F172A"/>
                </a:solidFill>
                <a:latin typeface="D2Coding"/>
                <a:ea typeface="D2Coding"/>
                <a:cs typeface="D2Coding"/>
              </a:rPr>
              <a:t>3</a:t>
            </a:r>
          </a:p>
        </p:txBody>
      </p:sp>
      <p:sp>
        <p:nvSpPr>
          <p:cNvPr id="8" name="step-2">
            <a:extLst xmlns:a="http://schemas.openxmlformats.org/drawingml/2006/main">
              <a:ext uri="{FF2B5EF4-FFF2-40B4-BE49-F238E27FC236}">
                <a16:creationId xmlns:a16="http://schemas.microsoft.com/office/drawing/2014/main" id="{C3FADEFE-76F0-43A2-AC70-5191AC08B7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5900" y="4095750"/>
            <a:ext cx="9525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F172A"/>
                </a:solidFill>
                <a:latin typeface="D2Coding"/>
                <a:ea typeface="D2Coding"/>
                <a:cs typeface="D2Coding"/>
              </a:defRPr>
            </a:pPr>
            <a:r>
              <a:rPr sz="1800" b="1">
                <a:solidFill>
                  <a:srgbClr val="0F172A"/>
                </a:solidFill>
                <a:latin typeface="D2Coding"/>
                <a:ea typeface="D2Coding"/>
                <a:cs typeface="D2Coding"/>
              </a:rPr>
              <a:t>원장 정합성 확인 및 알림</a:t>
            </a:r>
          </a:p>
        </p:txBody>
      </p:sp>
    </p:spTree>
    <p:extLst>
      <p:ext uri="{BB962C8B-B14F-4D97-AF65-F5344CB8AC3E}">
        <p14:creationId xmlns:p14="http://schemas.microsoft.com/office/powerpoint/2010/main" val="1544792779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2026-08-11T17:42:34.3880000Z</dcterms:created>
  <dcterms:modified xsi:type="dcterms:W3CDTF">2026-08-11T17:42:34.3880000Z</dcterms:modified>
</coreProperties>
</file>