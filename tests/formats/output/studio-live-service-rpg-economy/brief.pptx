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668e975625f43a6" /><Relationship Type="http://schemas.openxmlformats.org/officeDocument/2006/relationships/extended-properties" Target="/docProps/app.xml" Id="Rac27137b2c874550" /><Relationship Type="http://schemas.openxmlformats.org/officeDocument/2006/relationships/officeDocument" Target="/ppt/presentation.xml" Id="Read3bda72a7d4f7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b4ef37e6cf04250"/>
  </p:sldMasterIdLst>
  <p:notesMasterIdLst>
    <p:notesMasterId xmlns:r="http://schemas.openxmlformats.org/officeDocument/2006/relationships" r:id="R5126c9c0dbbd4819"/>
  </p:notesMasterIdLst>
  <p:sldIdLst>
    <p:sldId xmlns:r="http://schemas.openxmlformats.org/officeDocument/2006/relationships" id="256" r:id="Rfd805d7cd0c0457b"/>
    <p:sldId xmlns:r="http://schemas.openxmlformats.org/officeDocument/2006/relationships" id="257" r:id="Rfd7430134e1a48ec"/>
    <p:sldId xmlns:r="http://schemas.openxmlformats.org/officeDocument/2006/relationships" id="258" r:id="Ra4ee1b1394d344c5"/>
    <p:sldId xmlns:r="http://schemas.openxmlformats.org/officeDocument/2006/relationships" id="259" r:id="Rccf6ee34de04402f"/>
    <p:sldId xmlns:r="http://schemas.openxmlformats.org/officeDocument/2006/relationships" id="260" r:id="Rbe31c8a963064b01"/>
    <p:sldId xmlns:r="http://schemas.openxmlformats.org/officeDocument/2006/relationships" id="261" r:id="Rd9c2dcd245be462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cd2d4c2ece64458" /><Relationship Type="http://schemas.openxmlformats.org/officeDocument/2006/relationships/slideMaster" Target="/ppt/slideMasters/slideMaster1.xml" Id="R4b4ef37e6cf04250" /><Relationship Type="http://schemas.openxmlformats.org/officeDocument/2006/relationships/notesMaster" Target="/ppt/notesMasters/notesMaster1.xml" Id="R5126c9c0dbbd4819" /><Relationship Type="http://schemas.openxmlformats.org/officeDocument/2006/relationships/presProps" Target="/ppt/presProps.xml" Id="R949faace245f49ac" /><Relationship Type="http://schemas.openxmlformats.org/officeDocument/2006/relationships/tableStyles" Target="/ppt/tableStyles.xml" Id="Rcaeab8dc47fa41de" /><Relationship Type="http://schemas.openxmlformats.org/officeDocument/2006/relationships/slide" Target="/ppt/slides/slide1.xml" Id="Rfd805d7cd0c0457b" /><Relationship Type="http://schemas.openxmlformats.org/officeDocument/2006/relationships/slide" Target="/ppt/slides/slide2.xml" Id="Rfd7430134e1a48ec" /><Relationship Type="http://schemas.openxmlformats.org/officeDocument/2006/relationships/slide" Target="/ppt/slides/slide3.xml" Id="Ra4ee1b1394d344c5" /><Relationship Type="http://schemas.openxmlformats.org/officeDocument/2006/relationships/slide" Target="/ppt/slides/slide4.xml" Id="Rccf6ee34de04402f" /><Relationship Type="http://schemas.openxmlformats.org/officeDocument/2006/relationships/slide" Target="/ppt/slides/slide5.xml" Id="Rbe31c8a963064b01" /><Relationship Type="http://schemas.openxmlformats.org/officeDocument/2006/relationships/slide" Target="/ppt/slides/slide6.xml" Id="Rd9c2dcd245be462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ffd95cb4b42405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ee8ee0250eb4b10" /><Relationship Type="http://schemas.openxmlformats.org/officeDocument/2006/relationships/notesMaster" Target="/ppt/notesMasters/notesMaster1.xml" Id="R02657a6714654b6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9356b79cc7041e8" /><Relationship Type="http://schemas.openxmlformats.org/officeDocument/2006/relationships/notesMaster" Target="/ppt/notesMasters/notesMaster1.xml" Id="Rdfdd4f7fa4fd4a9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a95afb7078c4d31" /><Relationship Type="http://schemas.openxmlformats.org/officeDocument/2006/relationships/notesMaster" Target="/ppt/notesMasters/notesMaster1.xml" Id="R97f82827439b41c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362620677f04340" /><Relationship Type="http://schemas.openxmlformats.org/officeDocument/2006/relationships/notesMaster" Target="/ppt/notesMasters/notesMaster1.xml" Id="Refeb62ff51f6467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75a1ec1749942c8" /><Relationship Type="http://schemas.openxmlformats.org/officeDocument/2006/relationships/notesMaster" Target="/ppt/notesMasters/notesMaster1.xml" Id="R7e8f115fb37c45b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c2269768cc64c57" /><Relationship Type="http://schemas.openxmlformats.org/officeDocument/2006/relationships/notesMaster" Target="/ppt/notesMasters/notesMaster1.xml" Id="Rad91650f89cf476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result.json#/domain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result.json#/domain/economy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result.json#/domain/experiment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result.json#/domain/experiment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result.json#/domain/economy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result.json#/domain/rollback</a:t>
            </a:r>
          </a:p>
          <a:p xmlns:a="http://schemas.openxmlformats.org/drawingml/2006/main">
            <a:r>
              <a:t>- approval-snapshot.json#/responsibleGates/1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2509ba8b25f4f3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d229f55333c4adb" /><Relationship Type="http://schemas.openxmlformats.org/officeDocument/2006/relationships/slideLayout" Target="/ppt/slideLayouts/slideLayout1.xml" Id="Rfc60e095f42944f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c60e095f42944f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412ecc6f234db4" /><Relationship Type="http://schemas.openxmlformats.org/officeDocument/2006/relationships/notesSlide" Target="/ppt/notesSlides/notesSlide1.xml" Id="Rb5042ca59bc745e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94eb93a5304d2f" /><Relationship Type="http://schemas.openxmlformats.org/officeDocument/2006/relationships/notesSlide" Target="/ppt/notesSlides/notesSlide2.xml" Id="Rd80c8b23625648d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3fd9c2946d43e8" /><Relationship Type="http://schemas.openxmlformats.org/officeDocument/2006/relationships/notesSlide" Target="/ppt/notesSlides/notesSlide3.xml" Id="R4d2a81bd8cca48b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193e3b92434cd9" /><Relationship Type="http://schemas.openxmlformats.org/officeDocument/2006/relationships/notesSlide" Target="/ppt/notesSlides/notesSlide4.xml" Id="Ra0754efb89a84a8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e786850d29463e" /><Relationship Type="http://schemas.openxmlformats.org/officeDocument/2006/relationships/notesSlide" Target="/ppt/notesSlides/notesSlide5.xml" Id="R415eae725d3146f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864b9f11874f06" /><Relationship Type="http://schemas.openxmlformats.org/officeDocument/2006/relationships/notesSlide" Target="/ppt/notesSlides/notesSlide6.xml" Id="R2873778a2c1a4c9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cover-kicker">
            <a:extLst xmlns:a="http://schemas.openxmlformats.org/drawingml/2006/main">
              <a:ext uri="{FF2B5EF4-FFF2-40B4-BE49-F238E27FC236}">
                <a16:creationId xmlns:a16="http://schemas.microsoft.com/office/drawing/2014/main" id="{6BAB4070-DE8C-46BA-8B92-81E3C3445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14350"/>
            <a:ext cx="628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3D8DFF"/>
                </a:solidFill>
                <a:latin typeface="D2Coding"/>
                <a:ea typeface="D2Coding"/>
                <a:cs typeface="D2Coding"/>
              </a:defRPr>
            </a:pPr>
            <a:r>
              <a:rPr sz="1200" b="1">
                <a:solidFill>
                  <a:srgbClr val="3D8DFF"/>
                </a:solidFill>
                <a:latin typeface="D2Coding"/>
                <a:ea typeface="D2Coding"/>
                <a:cs typeface="D2Coding"/>
              </a:rPr>
              <a:t>GAME DESIGN · EVIDENCE BRIEF</a:t>
            </a:r>
          </a:p>
        </p:txBody>
      </p:sp>
      <p:sp>
        <p:nvSpPr>
          <p:cNvPr id="2" name="cover-title">
            <a:extLst xmlns:a="http://schemas.openxmlformats.org/drawingml/2006/main">
              <a:ext uri="{FF2B5EF4-FFF2-40B4-BE49-F238E27FC236}">
                <a16:creationId xmlns:a16="http://schemas.microsoft.com/office/drawing/2014/main" id="{54AAF2C5-FA00-440F-91F8-D3AAF67F6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0"/>
            <a:ext cx="723900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4350" b="1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라이브 서비스 RPG</a:t>
            </a:r>
          </a:p>
          <a:p xmlns:a="http://schemas.openxmlformats.org/drawingml/2006/main">
            <a:pPr algn="l">
              <a:defRPr sz="4350" b="1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4350" b="1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경제 운영 브리프</a:t>
            </a:r>
          </a:p>
        </p:txBody>
      </p:sp>
      <p:sp>
        <p:nvSpPr>
          <p:cNvPr id="3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7B610CB3-561A-40F0-9DAB-ED208EF7A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95750"/>
            <a:ext cx="666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475569"/>
                </a:solidFill>
                <a:latin typeface="D2Coding"/>
                <a:ea typeface="D2Coding"/>
                <a:cs typeface="D2Coding"/>
              </a:defRPr>
            </a:pPr>
            <a:r>
              <a:rPr sz="1800" b="0">
                <a:solidFill>
                  <a:srgbClr val="475569"/>
                </a:solidFill>
                <a:latin typeface="D2Coding"/>
                <a:ea typeface="D2Coding"/>
                <a:cs typeface="D2Coding"/>
              </a:rPr>
              <a:t>루프 · 실험 · 가드레일 · 롤백</a:t>
            </a:r>
          </a:p>
        </p:txBody>
      </p:sp>
      <p:sp>
        <p:nvSpPr>
          <p:cNvPr id="4" name="cover-panel">
            <a:extLst xmlns:a="http://schemas.openxmlformats.org/drawingml/2006/main">
              <a:ext uri="{FF2B5EF4-FFF2-40B4-BE49-F238E27FC236}">
                <a16:creationId xmlns:a16="http://schemas.microsoft.com/office/drawing/2014/main" id="{9B20B8CF-18DF-4D40-A9B8-5C6095ECB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514350"/>
            <a:ext cx="3143250" cy="533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cover-mark">
            <a:extLst xmlns:a="http://schemas.openxmlformats.org/drawingml/2006/main">
              <a:ext uri="{FF2B5EF4-FFF2-40B4-BE49-F238E27FC236}">
                <a16:creationId xmlns:a16="http://schemas.microsoft.com/office/drawing/2014/main" id="{F3BF4D5C-3F9F-4A23-B792-4CAB05935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076450"/>
            <a:ext cx="2571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5400" b="1">
                <a:solidFill>
                  <a:srgbClr val="3D8DFF"/>
                </a:solidFill>
                <a:latin typeface="D2Coding"/>
                <a:ea typeface="D2Coding"/>
                <a:cs typeface="D2Coding"/>
              </a:defRPr>
            </a:pPr>
            <a:r>
              <a:rPr sz="5400" b="1">
                <a:solidFill>
                  <a:srgbClr val="3D8DFF"/>
                </a:solidFill>
                <a:latin typeface="D2Coding"/>
                <a:ea typeface="D2Coding"/>
                <a:cs typeface="D2Coding"/>
              </a:rPr>
              <a:t>5,000</a:t>
            </a:r>
          </a:p>
        </p:txBody>
      </p:sp>
      <p:sp>
        <p:nvSpPr>
          <p:cNvPr id="6" name="cover-caption">
            <a:extLst xmlns:a="http://schemas.openxmlformats.org/drawingml/2006/main">
              <a:ext uri="{FF2B5EF4-FFF2-40B4-BE49-F238E27FC236}">
                <a16:creationId xmlns:a16="http://schemas.microsoft.com/office/drawing/2014/main" id="{BF7423DB-8674-403C-ABC3-00C606CCD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638550"/>
            <a:ext cx="2571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475569"/>
                </a:solidFill>
                <a:latin typeface="D2Coding"/>
                <a:ea typeface="D2Coding"/>
                <a:cs typeface="D2Coding"/>
              </a:defRPr>
            </a:pPr>
            <a:r>
              <a:rPr sz="1575" b="0">
                <a:solidFill>
                  <a:srgbClr val="475569"/>
                </a:solidFill>
                <a:latin typeface="D2Coding"/>
                <a:ea typeface="D2Coding"/>
                <a:cs typeface="D2Coding"/>
              </a:rPr>
              <a:t>목표 보유량</a:t>
            </a:r>
          </a:p>
        </p:txBody>
      </p:sp>
    </p:spTree>
    <p:extLst>
      <p:ext uri="{BB962C8B-B14F-4D97-AF65-F5344CB8AC3E}">
        <p14:creationId xmlns:p14="http://schemas.microsoft.com/office/powerpoint/2010/main" val="117042038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itle-2">
            <a:extLst xmlns:a="http://schemas.openxmlformats.org/drawingml/2006/main">
              <a:ext uri="{FF2B5EF4-FFF2-40B4-BE49-F238E27FC236}">
                <a16:creationId xmlns:a16="http://schemas.microsoft.com/office/drawing/2014/main" id="{7ED3920F-AB06-4D20-89B5-A9C69C7EA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0953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2850" b="1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경제 루프는 단순하고 검증 가능해야 한다</a:t>
            </a:r>
          </a:p>
        </p:txBody>
      </p:sp>
      <p:sp>
        <p:nvSpPr>
          <p:cNvPr id="2" name="number-2">
            <a:extLst xmlns:a="http://schemas.openxmlformats.org/drawingml/2006/main">
              <a:ext uri="{FF2B5EF4-FFF2-40B4-BE49-F238E27FC236}">
                <a16:creationId xmlns:a16="http://schemas.microsoft.com/office/drawing/2014/main" id="{E84281EA-8598-4CAC-97EA-A3F6A7AC5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34125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5238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75569"/>
                </a:solidFill>
                <a:latin typeface="D2Coding"/>
                <a:ea typeface="D2Coding"/>
                <a:cs typeface="D2Coding"/>
              </a:defRPr>
            </a:pPr>
            <a:r>
              <a:rPr sz="1050" b="0">
                <a:solidFill>
                  <a:srgbClr val="475569"/>
                </a:solidFill>
                <a:latin typeface="D2Coding"/>
                <a:ea typeface="D2Coding"/>
                <a:cs typeface="D2Coding"/>
              </a:rPr>
              <a:t>2</a:t>
            </a:r>
          </a:p>
        </p:txBody>
      </p:sp>
      <p:sp>
        <p:nvSpPr>
          <p:cNvPr id="3" name="half-body">
            <a:extLst xmlns:a="http://schemas.openxmlformats.org/drawingml/2006/main">
              <a:ext uri="{FF2B5EF4-FFF2-40B4-BE49-F238E27FC236}">
                <a16:creationId xmlns:a16="http://schemas.microsoft.com/office/drawing/2014/main" id="{B076E15B-A82D-41C9-9DAE-89057E56B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095500"/>
            <a:ext cx="52387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1875" b="0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일일 미션에서 소프트 재화를 획득하고</a:t>
            </a:r>
          </a:p>
          <a:p xmlns:a="http://schemas.openxmlformats.org/drawingml/2006/main">
            <a:pPr algn="l">
              <a:defRPr sz="1875" b="0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1875" b="0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업그레이드에 소비한다.</a:t>
            </a:r>
          </a:p>
          <a:p xmlns:a="http://schemas.openxmlformats.org/drawingml/2006/main">
            <a:pPr algn="l">
              <a:defRPr sz="1875" b="0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1875" b="0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운영 기준 보유량은 5,000이다.</a:t>
            </a:r>
          </a:p>
        </p:txBody>
      </p:sp>
      <p:sp>
        <p:nvSpPr>
          <p:cNvPr id="4" name="half-visual">
            <a:extLst xmlns:a="http://schemas.openxmlformats.org/drawingml/2006/main">
              <a:ext uri="{FF2B5EF4-FFF2-40B4-BE49-F238E27FC236}">
                <a16:creationId xmlns:a16="http://schemas.microsoft.com/office/drawing/2014/main" id="{AE0A500D-14A3-4B68-A40E-8874EE4E8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381125"/>
            <a:ext cx="5505450" cy="457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half-signal">
            <a:extLst xmlns:a="http://schemas.openxmlformats.org/drawingml/2006/main">
              <a:ext uri="{FF2B5EF4-FFF2-40B4-BE49-F238E27FC236}">
                <a16:creationId xmlns:a16="http://schemas.microsoft.com/office/drawing/2014/main" id="{53A71575-8125-40C9-81CB-8D00D17A1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324100"/>
            <a:ext cx="43815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5550" b="1">
                <a:solidFill>
                  <a:srgbClr val="3D8DFF"/>
                </a:solidFill>
                <a:latin typeface="D2Coding"/>
                <a:ea typeface="D2Coding"/>
                <a:cs typeface="D2Coding"/>
              </a:defRPr>
            </a:pPr>
            <a:r>
              <a:rPr sz="5550" b="1">
                <a:solidFill>
                  <a:srgbClr val="3D8DFF"/>
                </a:solidFill>
                <a:latin typeface="D2Coding"/>
                <a:ea typeface="D2Coding"/>
                <a:cs typeface="D2Coding"/>
              </a:rPr>
              <a:t>5,000</a:t>
            </a:r>
          </a:p>
        </p:txBody>
      </p:sp>
      <p:sp>
        <p:nvSpPr>
          <p:cNvPr id="6" name="half-caption">
            <a:extLst xmlns:a="http://schemas.openxmlformats.org/drawingml/2006/main">
              <a:ext uri="{FF2B5EF4-FFF2-40B4-BE49-F238E27FC236}">
                <a16:creationId xmlns:a16="http://schemas.microsoft.com/office/drawing/2014/main" id="{254BA457-9E3D-4B6D-B1E5-4FB4DA326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810000"/>
            <a:ext cx="4381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1800" b="0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목표 보유량</a:t>
            </a:r>
          </a:p>
        </p:txBody>
      </p:sp>
    </p:spTree>
    <p:extLst>
      <p:ext uri="{BB962C8B-B14F-4D97-AF65-F5344CB8AC3E}">
        <p14:creationId xmlns:p14="http://schemas.microsoft.com/office/powerpoint/2010/main" val="164541822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itle-3">
            <a:extLst xmlns:a="http://schemas.openxmlformats.org/drawingml/2006/main">
              <a:ext uri="{FF2B5EF4-FFF2-40B4-BE49-F238E27FC236}">
                <a16:creationId xmlns:a16="http://schemas.microsoft.com/office/drawing/2014/main" id="{65002009-DED7-4D95-9C76-986963BEC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0953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2850" b="1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한 변수만 바꾸는 실험</a:t>
            </a:r>
          </a:p>
        </p:txBody>
      </p:sp>
      <p:sp>
        <p:nvSpPr>
          <p:cNvPr id="2" name="number-3">
            <a:extLst xmlns:a="http://schemas.openxmlformats.org/drawingml/2006/main">
              <a:ext uri="{FF2B5EF4-FFF2-40B4-BE49-F238E27FC236}">
                <a16:creationId xmlns:a16="http://schemas.microsoft.com/office/drawing/2014/main" id="{DE1703E9-A54B-4C3A-B644-DAA73653B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34125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5238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75569"/>
                </a:solidFill>
                <a:latin typeface="D2Coding"/>
                <a:ea typeface="D2Coding"/>
                <a:cs typeface="D2Coding"/>
              </a:defRPr>
            </a:pPr>
            <a:r>
              <a:rPr sz="1050" b="0">
                <a:solidFill>
                  <a:srgbClr val="475569"/>
                </a:solidFill>
                <a:latin typeface="D2Coding"/>
                <a:ea typeface="D2Coding"/>
                <a:cs typeface="D2Coding"/>
              </a:rPr>
              <a:t>3</a:t>
            </a:r>
          </a:p>
        </p:txBody>
      </p:sp>
      <p:sp>
        <p:nvSpPr>
          <p:cNvPr id="3" name="connector-1">
            <a:extLst xmlns:a="http://schemas.openxmlformats.org/drawingml/2006/main">
              <a:ext uri="{FF2B5EF4-FFF2-40B4-BE49-F238E27FC236}">
                <a16:creationId xmlns:a16="http://schemas.microsoft.com/office/drawing/2014/main" id="{E4B98FB8-6704-4FAB-AA0F-ED1DAE05D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162300"/>
            <a:ext cx="1047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connector-2">
            <a:extLst xmlns:a="http://schemas.openxmlformats.org/drawingml/2006/main">
              <a:ext uri="{FF2B5EF4-FFF2-40B4-BE49-F238E27FC236}">
                <a16:creationId xmlns:a16="http://schemas.microsoft.com/office/drawing/2014/main" id="{578F27B7-489A-4584-8637-0C8FB4695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162300"/>
            <a:ext cx="1047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node-1">
            <a:extLst xmlns:a="http://schemas.openxmlformats.org/drawingml/2006/main">
              <a:ext uri="{FF2B5EF4-FFF2-40B4-BE49-F238E27FC236}">
                <a16:creationId xmlns:a16="http://schemas.microsoft.com/office/drawing/2014/main" id="{C9539F6F-D00A-48C9-98C9-BECB072EE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81250"/>
            <a:ext cx="24765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 lIns="38100" tIns="38100" rIns="381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1800" b="1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현재 지급률</a:t>
            </a:r>
          </a:p>
        </p:txBody>
      </p:sp>
      <p:sp>
        <p:nvSpPr>
          <p:cNvPr id="6" name="node-2">
            <a:extLst xmlns:a="http://schemas.openxmlformats.org/drawingml/2006/main">
              <a:ext uri="{FF2B5EF4-FFF2-40B4-BE49-F238E27FC236}">
                <a16:creationId xmlns:a16="http://schemas.microsoft.com/office/drawing/2014/main" id="{ACAAD7C7-1D0C-42D9-9892-2EDA49BF2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381250"/>
            <a:ext cx="24765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 lIns="38100" tIns="38100" rIns="381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1800" b="1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일일 미션 지급량</a:t>
            </a:r>
          </a:p>
        </p:txBody>
      </p:sp>
      <p:sp>
        <p:nvSpPr>
          <p:cNvPr id="7" name="node-3">
            <a:extLst xmlns:a="http://schemas.openxmlformats.org/drawingml/2006/main">
              <a:ext uri="{FF2B5EF4-FFF2-40B4-BE49-F238E27FC236}">
                <a16:creationId xmlns:a16="http://schemas.microsoft.com/office/drawing/2014/main" id="{5AFBA95C-D0B4-4988-AD41-9528E9E5E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381250"/>
            <a:ext cx="24765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 lIns="38100" tIns="38100" rIns="381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1800" b="1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진행 체감</a:t>
            </a:r>
          </a:p>
        </p:txBody>
      </p:sp>
      <p:sp>
        <p:nvSpPr>
          <p:cNvPr id="8" name="diagram-footer">
            <a:extLst xmlns:a="http://schemas.openxmlformats.org/drawingml/2006/main">
              <a:ext uri="{FF2B5EF4-FFF2-40B4-BE49-F238E27FC236}">
                <a16:creationId xmlns:a16="http://schemas.microsoft.com/office/drawing/2014/main" id="{0F818B3B-16FA-4E9F-A5FC-CEAB33EE4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475569"/>
                </a:solidFill>
                <a:latin typeface="D2Coding"/>
                <a:ea typeface="D2Coding"/>
                <a:cs typeface="D2Coding"/>
              </a:defRPr>
            </a:pPr>
            <a:r>
              <a:rPr sz="1500" b="0">
                <a:solidFill>
                  <a:srgbClr val="475569"/>
                </a:solidFill>
                <a:latin typeface="D2Coding"/>
                <a:ea typeface="D2Coding"/>
                <a:cs typeface="D2Coding"/>
              </a:rPr>
              <a:t>가설: 제한된 공급 조정은 인플레이션 없이 진행을 개선한다.</a:t>
            </a:r>
          </a:p>
        </p:txBody>
      </p:sp>
    </p:spTree>
    <p:extLst>
      <p:ext uri="{BB962C8B-B14F-4D97-AF65-F5344CB8AC3E}">
        <p14:creationId xmlns:p14="http://schemas.microsoft.com/office/powerpoint/2010/main" val="165765082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itle-4">
            <a:extLst xmlns:a="http://schemas.openxmlformats.org/drawingml/2006/main">
              <a:ext uri="{FF2B5EF4-FFF2-40B4-BE49-F238E27FC236}">
                <a16:creationId xmlns:a16="http://schemas.microsoft.com/office/drawing/2014/main" id="{E0281AD3-FF00-497D-A973-36DAE64AF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0953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2850" b="1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실험 제어표</a:t>
            </a:r>
          </a:p>
        </p:txBody>
      </p:sp>
      <p:sp>
        <p:nvSpPr>
          <p:cNvPr id="2" name="number-4">
            <a:extLst xmlns:a="http://schemas.openxmlformats.org/drawingml/2006/main">
              <a:ext uri="{FF2B5EF4-FFF2-40B4-BE49-F238E27FC236}">
                <a16:creationId xmlns:a16="http://schemas.microsoft.com/office/drawing/2014/main" id="{29A60EEB-A10F-4442-91AE-29C63E4F0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34125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5238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75569"/>
                </a:solidFill>
                <a:latin typeface="D2Coding"/>
                <a:ea typeface="D2Coding"/>
                <a:cs typeface="D2Coding"/>
              </a:defRPr>
            </a:pPr>
            <a:r>
              <a:rPr sz="1050" b="0">
                <a:solidFill>
                  <a:srgbClr val="475569"/>
                </a:solidFill>
                <a:latin typeface="D2Coding"/>
                <a:ea typeface="D2Coding"/>
                <a:cs typeface="D2Coding"/>
              </a:rPr>
              <a:t>4</a:t>
            </a:r>
          </a:p>
        </p:txBody>
      </p:sp>
      <p:sp>
        <p:nvSpPr>
          <p:cNvPr id="3" name="cell-0-0">
            <a:extLst xmlns:a="http://schemas.openxmlformats.org/drawingml/2006/main">
              <a:ext uri="{FF2B5EF4-FFF2-40B4-BE49-F238E27FC236}">
                <a16:creationId xmlns:a16="http://schemas.microsoft.com/office/drawing/2014/main" id="{69AD31B5-AA24-4319-820E-D86A9F5E7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428750"/>
            <a:ext cx="3714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9525">
            <a:solidFill>
              <a:srgbClr val="94A3B8"/>
            </a:solidFill>
            <a:prstDash val="solid"/>
          </a:ln>
        </p:spPr>
        <p:txBody>
          <a:bodyPr xmlns:a="http://schemas.openxmlformats.org/drawingml/2006/main" lIns="114300" tIns="95250" rIns="114300" bIns="952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1500" b="1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항목</a:t>
            </a:r>
          </a:p>
        </p:txBody>
      </p:sp>
      <p:sp>
        <p:nvSpPr>
          <p:cNvPr id="4" name="cell-0-1">
            <a:extLst xmlns:a="http://schemas.openxmlformats.org/drawingml/2006/main">
              <a:ext uri="{FF2B5EF4-FFF2-40B4-BE49-F238E27FC236}">
                <a16:creationId xmlns:a16="http://schemas.microsoft.com/office/drawing/2014/main" id="{60CBBAE8-E4D2-42C0-99BF-273C77FD6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1428750"/>
            <a:ext cx="75819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9525">
            <a:solidFill>
              <a:srgbClr val="94A3B8"/>
            </a:solidFill>
            <a:prstDash val="solid"/>
          </a:ln>
        </p:spPr>
        <p:txBody>
          <a:bodyPr xmlns:a="http://schemas.openxmlformats.org/drawingml/2006/main" lIns="114300" tIns="95250" rIns="114300" bIns="952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1500" b="1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계약</a:t>
            </a:r>
          </a:p>
        </p:txBody>
      </p:sp>
      <p:sp>
        <p:nvSpPr>
          <p:cNvPr id="5" name="cell-1-0">
            <a:extLst xmlns:a="http://schemas.openxmlformats.org/drawingml/2006/main">
              <a:ext uri="{FF2B5EF4-FFF2-40B4-BE49-F238E27FC236}">
                <a16:creationId xmlns:a16="http://schemas.microsoft.com/office/drawing/2014/main" id="{4C24F108-09EB-4388-BBEF-855428768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133600"/>
            <a:ext cx="3714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94A3B8"/>
            </a:solidFill>
            <a:prstDash val="solid"/>
          </a:ln>
        </p:spPr>
        <p:txBody>
          <a:bodyPr xmlns:a="http://schemas.openxmlformats.org/drawingml/2006/main" lIns="114300" tIns="95250" rIns="114300" bIns="952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1350" b="0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대조군</a:t>
            </a:r>
          </a:p>
        </p:txBody>
      </p:sp>
      <p:sp>
        <p:nvSpPr>
          <p:cNvPr id="6" name="cell-1-1">
            <a:extLst xmlns:a="http://schemas.openxmlformats.org/drawingml/2006/main">
              <a:ext uri="{FF2B5EF4-FFF2-40B4-BE49-F238E27FC236}">
                <a16:creationId xmlns:a16="http://schemas.microsoft.com/office/drawing/2014/main" id="{AACF1EE2-D5C2-4432-B7F7-E3B86610D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2133600"/>
            <a:ext cx="75819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94A3B8"/>
            </a:solidFill>
            <a:prstDash val="solid"/>
          </a:ln>
        </p:spPr>
        <p:txBody>
          <a:bodyPr xmlns:a="http://schemas.openxmlformats.org/drawingml/2006/main" lIns="114300" tIns="95250" rIns="114300" bIns="952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1350" b="0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현재 지급률</a:t>
            </a:r>
          </a:p>
        </p:txBody>
      </p:sp>
      <p:sp>
        <p:nvSpPr>
          <p:cNvPr id="7" name="cell-2-0">
            <a:extLst xmlns:a="http://schemas.openxmlformats.org/drawingml/2006/main">
              <a:ext uri="{FF2B5EF4-FFF2-40B4-BE49-F238E27FC236}">
                <a16:creationId xmlns:a16="http://schemas.microsoft.com/office/drawing/2014/main" id="{3F1E97AE-E994-4EAA-8AA9-BBDA676CF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38450"/>
            <a:ext cx="3714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94A3B8"/>
            </a:solidFill>
            <a:prstDash val="solid"/>
          </a:ln>
        </p:spPr>
        <p:txBody>
          <a:bodyPr xmlns:a="http://schemas.openxmlformats.org/drawingml/2006/main" lIns="114300" tIns="95250" rIns="114300" bIns="952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1350" b="0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단일 변수</a:t>
            </a:r>
          </a:p>
        </p:txBody>
      </p:sp>
      <p:sp>
        <p:nvSpPr>
          <p:cNvPr id="8" name="cell-2-1">
            <a:extLst xmlns:a="http://schemas.openxmlformats.org/drawingml/2006/main">
              <a:ext uri="{FF2B5EF4-FFF2-40B4-BE49-F238E27FC236}">
                <a16:creationId xmlns:a16="http://schemas.microsoft.com/office/drawing/2014/main" id="{212C423C-0C18-4747-BCC1-C30A2E0F0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2838450"/>
            <a:ext cx="75819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94A3B8"/>
            </a:solidFill>
            <a:prstDash val="solid"/>
          </a:ln>
        </p:spPr>
        <p:txBody>
          <a:bodyPr xmlns:a="http://schemas.openxmlformats.org/drawingml/2006/main" lIns="114300" tIns="95250" rIns="114300" bIns="952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1350" b="0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일일 미션 지급량</a:t>
            </a:r>
          </a:p>
        </p:txBody>
      </p:sp>
      <p:sp>
        <p:nvSpPr>
          <p:cNvPr id="9" name="cell-3-0">
            <a:extLst xmlns:a="http://schemas.openxmlformats.org/drawingml/2006/main">
              <a:ext uri="{FF2B5EF4-FFF2-40B4-BE49-F238E27FC236}">
                <a16:creationId xmlns:a16="http://schemas.microsoft.com/office/drawing/2014/main" id="{8C366574-E72F-4750-8CB7-200673DA5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543300"/>
            <a:ext cx="3714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94A3B8"/>
            </a:solidFill>
            <a:prstDash val="solid"/>
          </a:ln>
        </p:spPr>
        <p:txBody>
          <a:bodyPr xmlns:a="http://schemas.openxmlformats.org/drawingml/2006/main" lIns="114300" tIns="95250" rIns="114300" bIns="952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1350" b="0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가드레일</a:t>
            </a:r>
          </a:p>
        </p:txBody>
      </p:sp>
      <p:sp>
        <p:nvSpPr>
          <p:cNvPr id="10" name="cell-3-1">
            <a:extLst xmlns:a="http://schemas.openxmlformats.org/drawingml/2006/main">
              <a:ext uri="{FF2B5EF4-FFF2-40B4-BE49-F238E27FC236}">
                <a16:creationId xmlns:a16="http://schemas.microsoft.com/office/drawing/2014/main" id="{91D81D33-A161-4713-AECB-C75F2F3F7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3543300"/>
            <a:ext cx="75819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94A3B8"/>
            </a:solidFill>
            <a:prstDash val="solid"/>
          </a:ln>
        </p:spPr>
        <p:txBody>
          <a:bodyPr xmlns:a="http://schemas.openxmlformats.org/drawingml/2006/main" lIns="114300" tIns="95250" rIns="114300" bIns="952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1350" b="0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주간 인플레이션율</a:t>
            </a:r>
          </a:p>
        </p:txBody>
      </p:sp>
      <p:sp>
        <p:nvSpPr>
          <p:cNvPr id="11" name="cell-4-0">
            <a:extLst xmlns:a="http://schemas.openxmlformats.org/drawingml/2006/main">
              <a:ext uri="{FF2B5EF4-FFF2-40B4-BE49-F238E27FC236}">
                <a16:creationId xmlns:a16="http://schemas.microsoft.com/office/drawing/2014/main" id="{32EAF38B-F814-4ABE-90BD-9E5741246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248150"/>
            <a:ext cx="3714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94A3B8"/>
            </a:solidFill>
            <a:prstDash val="solid"/>
          </a:ln>
        </p:spPr>
        <p:txBody>
          <a:bodyPr xmlns:a="http://schemas.openxmlformats.org/drawingml/2006/main" lIns="114300" tIns="95250" rIns="114300" bIns="952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1350" b="0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중단 조건</a:t>
            </a:r>
          </a:p>
        </p:txBody>
      </p:sp>
      <p:sp>
        <p:nvSpPr>
          <p:cNvPr id="12" name="cell-4-1">
            <a:extLst xmlns:a="http://schemas.openxmlformats.org/drawingml/2006/main">
              <a:ext uri="{FF2B5EF4-FFF2-40B4-BE49-F238E27FC236}">
                <a16:creationId xmlns:a16="http://schemas.microsoft.com/office/drawing/2014/main" id="{676875CC-C0C5-431A-AD1E-341317BA9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4248150"/>
            <a:ext cx="75819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94A3B8"/>
            </a:solidFill>
            <a:prstDash val="solid"/>
          </a:ln>
        </p:spPr>
        <p:txBody>
          <a:bodyPr xmlns:a="http://schemas.openxmlformats.org/drawingml/2006/main" lIns="114300" tIns="95250" rIns="114300" bIns="952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1350" b="0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가드레일 위반</a:t>
            </a:r>
          </a:p>
        </p:txBody>
      </p:sp>
    </p:spTree>
    <p:extLst>
      <p:ext uri="{BB962C8B-B14F-4D97-AF65-F5344CB8AC3E}">
        <p14:creationId xmlns:p14="http://schemas.microsoft.com/office/powerpoint/2010/main" val="163382470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itle-5">
            <a:extLst xmlns:a="http://schemas.openxmlformats.org/drawingml/2006/main">
              <a:ext uri="{FF2B5EF4-FFF2-40B4-BE49-F238E27FC236}">
                <a16:creationId xmlns:a16="http://schemas.microsoft.com/office/drawing/2014/main" id="{DDE01ECE-08BA-447F-8746-AE099DD33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0953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2850" b="1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운영 가드레일</a:t>
            </a:r>
          </a:p>
        </p:txBody>
      </p:sp>
      <p:sp>
        <p:nvSpPr>
          <p:cNvPr id="2" name="number-5">
            <a:extLst xmlns:a="http://schemas.openxmlformats.org/drawingml/2006/main">
              <a:ext uri="{FF2B5EF4-FFF2-40B4-BE49-F238E27FC236}">
                <a16:creationId xmlns:a16="http://schemas.microsoft.com/office/drawing/2014/main" id="{EFE3976B-0EBD-4717-BE01-316F96BFF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34125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5238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75569"/>
                </a:solidFill>
                <a:latin typeface="D2Coding"/>
                <a:ea typeface="D2Coding"/>
                <a:cs typeface="D2Coding"/>
              </a:defRPr>
            </a:pPr>
            <a:r>
              <a:rPr sz="1050" b="0">
                <a:solidFill>
                  <a:srgbClr val="475569"/>
                </a:solidFill>
                <a:latin typeface="D2Coding"/>
                <a:ea typeface="D2Coding"/>
                <a:cs typeface="D2Coding"/>
              </a:rPr>
              <a:t>5</a:t>
            </a:r>
          </a:p>
        </p:txBody>
      </p:sp>
      <p:sp>
        <p:nvSpPr>
          <p:cNvPr id="3" name="stat-panel-0">
            <a:extLst xmlns:a="http://schemas.openxmlformats.org/drawingml/2006/main">
              <a:ext uri="{FF2B5EF4-FFF2-40B4-BE49-F238E27FC236}">
                <a16:creationId xmlns:a16="http://schemas.microsoft.com/office/drawing/2014/main" id="{CC507C03-5FF9-4207-AF12-2F8838B4E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81250"/>
            <a:ext cx="3562350" cy="2952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tat-0">
            <a:extLst xmlns:a="http://schemas.openxmlformats.org/drawingml/2006/main">
              <a:ext uri="{FF2B5EF4-FFF2-40B4-BE49-F238E27FC236}">
                <a16:creationId xmlns:a16="http://schemas.microsoft.com/office/drawing/2014/main" id="{FCE81EFF-1C3C-4C3A-B401-B1E0830DA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48000"/>
            <a:ext cx="29908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4350" b="1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5,000</a:t>
            </a:r>
          </a:p>
        </p:txBody>
      </p:sp>
      <p:sp>
        <p:nvSpPr>
          <p:cNvPr id="5" name="stat-caption-0">
            <a:extLst xmlns:a="http://schemas.openxmlformats.org/drawingml/2006/main">
              <a:ext uri="{FF2B5EF4-FFF2-40B4-BE49-F238E27FC236}">
                <a16:creationId xmlns:a16="http://schemas.microsoft.com/office/drawing/2014/main" id="{FF26021F-3EBD-40C6-8246-58142CB34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191000"/>
            <a:ext cx="2990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1575" b="0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목표 보유량</a:t>
            </a:r>
          </a:p>
        </p:txBody>
      </p:sp>
      <p:sp>
        <p:nvSpPr>
          <p:cNvPr id="6" name="stat-panel-1">
            <a:extLst xmlns:a="http://schemas.openxmlformats.org/drawingml/2006/main">
              <a:ext uri="{FF2B5EF4-FFF2-40B4-BE49-F238E27FC236}">
                <a16:creationId xmlns:a16="http://schemas.microsoft.com/office/drawing/2014/main" id="{E20AD2D3-786C-4968-AEB3-C6FF2F7E9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381250"/>
            <a:ext cx="3562350" cy="2952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stat-1">
            <a:extLst xmlns:a="http://schemas.openxmlformats.org/drawingml/2006/main">
              <a:ext uri="{FF2B5EF4-FFF2-40B4-BE49-F238E27FC236}">
                <a16:creationId xmlns:a16="http://schemas.microsoft.com/office/drawing/2014/main" id="{DB1041B1-E86D-4777-A782-B14BB0446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048000"/>
            <a:ext cx="29908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4350" b="1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공개</a:t>
            </a:r>
          </a:p>
        </p:txBody>
      </p:sp>
      <p:sp>
        <p:nvSpPr>
          <p:cNvPr id="8" name="stat-caption-1">
            <a:extLst xmlns:a="http://schemas.openxmlformats.org/drawingml/2006/main">
              <a:ext uri="{FF2B5EF4-FFF2-40B4-BE49-F238E27FC236}">
                <a16:creationId xmlns:a16="http://schemas.microsoft.com/office/drawing/2014/main" id="{02E83D6C-AA28-440D-AE16-D2E2AF7B8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4191000"/>
            <a:ext cx="2990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1575" b="0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확률</a:t>
            </a:r>
          </a:p>
        </p:txBody>
      </p:sp>
      <p:sp>
        <p:nvSpPr>
          <p:cNvPr id="9" name="stat-panel-2">
            <a:extLst xmlns:a="http://schemas.openxmlformats.org/drawingml/2006/main">
              <a:ext uri="{FF2B5EF4-FFF2-40B4-BE49-F238E27FC236}">
                <a16:creationId xmlns:a16="http://schemas.microsoft.com/office/drawing/2014/main" id="{55A00D10-21A9-44C6-B388-8EB7D9BD3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381250"/>
            <a:ext cx="3562350" cy="2952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stat-2">
            <a:extLst xmlns:a="http://schemas.openxmlformats.org/drawingml/2006/main">
              <a:ext uri="{FF2B5EF4-FFF2-40B4-BE49-F238E27FC236}">
                <a16:creationId xmlns:a16="http://schemas.microsoft.com/office/drawing/2014/main" id="{F19FFEA7-BFF5-4BBE-A6B1-20F7B8E4C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048000"/>
            <a:ext cx="29908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4350" b="1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숨김 없음</a:t>
            </a:r>
          </a:p>
        </p:txBody>
      </p:sp>
      <p:sp>
        <p:nvSpPr>
          <p:cNvPr id="11" name="stat-caption-2">
            <a:extLst xmlns:a="http://schemas.openxmlformats.org/drawingml/2006/main">
              <a:ext uri="{FF2B5EF4-FFF2-40B4-BE49-F238E27FC236}">
                <a16:creationId xmlns:a16="http://schemas.microsoft.com/office/drawing/2014/main" id="{F3AB3068-9ADD-4C4A-A85F-831B57400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191000"/>
            <a:ext cx="2990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1575" b="0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환산</a:t>
            </a:r>
          </a:p>
        </p:txBody>
      </p:sp>
    </p:spTree>
    <p:extLst>
      <p:ext uri="{BB962C8B-B14F-4D97-AF65-F5344CB8AC3E}">
        <p14:creationId xmlns:p14="http://schemas.microsoft.com/office/powerpoint/2010/main" val="37434013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itle-6">
            <a:extLst xmlns:a="http://schemas.openxmlformats.org/drawingml/2006/main">
              <a:ext uri="{FF2B5EF4-FFF2-40B4-BE49-F238E27FC236}">
                <a16:creationId xmlns:a16="http://schemas.microsoft.com/office/drawing/2014/main" id="{0F50E3F6-87CE-4906-9389-DB3E142B6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0953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2850" b="1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위반 시 자동 롤백</a:t>
            </a:r>
          </a:p>
        </p:txBody>
      </p:sp>
      <p:sp>
        <p:nvSpPr>
          <p:cNvPr id="2" name="number-6">
            <a:extLst xmlns:a="http://schemas.openxmlformats.org/drawingml/2006/main">
              <a:ext uri="{FF2B5EF4-FFF2-40B4-BE49-F238E27FC236}">
                <a16:creationId xmlns:a16="http://schemas.microsoft.com/office/drawing/2014/main" id="{DC3D0E24-C7AE-459B-AE9B-D889F27E1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34125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5238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75569"/>
                </a:solidFill>
                <a:latin typeface="D2Coding"/>
                <a:ea typeface="D2Coding"/>
                <a:cs typeface="D2Coding"/>
              </a:defRPr>
            </a:pPr>
            <a:r>
              <a:rPr sz="1050" b="0">
                <a:solidFill>
                  <a:srgbClr val="475569"/>
                </a:solidFill>
                <a:latin typeface="D2Coding"/>
                <a:ea typeface="D2Coding"/>
                <a:cs typeface="D2Coding"/>
              </a:rPr>
              <a:t>6</a:t>
            </a:r>
          </a:p>
        </p:txBody>
      </p:sp>
      <p:sp>
        <p:nvSpPr>
          <p:cNvPr id="3" name="step-num-0">
            <a:extLst xmlns:a="http://schemas.openxmlformats.org/drawingml/2006/main">
              <a:ext uri="{FF2B5EF4-FFF2-40B4-BE49-F238E27FC236}">
                <a16:creationId xmlns:a16="http://schemas.microsoft.com/office/drawing/2014/main" id="{F858272E-4039-42AA-8F24-F30C048EB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19250"/>
            <a:ext cx="6477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2325" b="1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1</a:t>
            </a:r>
          </a:p>
        </p:txBody>
      </p:sp>
      <p:sp>
        <p:nvSpPr>
          <p:cNvPr id="4" name="step-0">
            <a:extLst xmlns:a="http://schemas.openxmlformats.org/drawingml/2006/main">
              <a:ext uri="{FF2B5EF4-FFF2-40B4-BE49-F238E27FC236}">
                <a16:creationId xmlns:a16="http://schemas.microsoft.com/office/drawing/2014/main" id="{08F3C2BE-2E5E-4E67-BE92-801B7BC85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1619250"/>
            <a:ext cx="9525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1800" b="1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가드레일 위반 감지</a:t>
            </a:r>
          </a:p>
        </p:txBody>
      </p:sp>
      <p:sp>
        <p:nvSpPr>
          <p:cNvPr id="5" name="step-num-1">
            <a:extLst xmlns:a="http://schemas.openxmlformats.org/drawingml/2006/main">
              <a:ext uri="{FF2B5EF4-FFF2-40B4-BE49-F238E27FC236}">
                <a16:creationId xmlns:a16="http://schemas.microsoft.com/office/drawing/2014/main" id="{A6CF575F-6909-4182-9E03-458D23656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0"/>
            <a:ext cx="6477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2325" b="1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2</a:t>
            </a:r>
          </a:p>
        </p:txBody>
      </p:sp>
      <p:sp>
        <p:nvSpPr>
          <p:cNvPr id="6" name="step-1">
            <a:extLst xmlns:a="http://schemas.openxmlformats.org/drawingml/2006/main">
              <a:ext uri="{FF2B5EF4-FFF2-40B4-BE49-F238E27FC236}">
                <a16:creationId xmlns:a16="http://schemas.microsoft.com/office/drawing/2014/main" id="{5DF2E34C-EFEC-4826-AA06-1DAF21B41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857500"/>
            <a:ext cx="9525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1800" b="1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마지막 정상 설정 복구</a:t>
            </a:r>
          </a:p>
        </p:txBody>
      </p:sp>
      <p:sp>
        <p:nvSpPr>
          <p:cNvPr id="7" name="step-num-2">
            <a:extLst xmlns:a="http://schemas.openxmlformats.org/drawingml/2006/main">
              <a:ext uri="{FF2B5EF4-FFF2-40B4-BE49-F238E27FC236}">
                <a16:creationId xmlns:a16="http://schemas.microsoft.com/office/drawing/2014/main" id="{37D7572C-250F-4BC2-A7E2-1B83FEC55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95750"/>
            <a:ext cx="6477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2325" b="1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3</a:t>
            </a:r>
          </a:p>
        </p:txBody>
      </p:sp>
      <p:sp>
        <p:nvSpPr>
          <p:cNvPr id="8" name="step-2">
            <a:extLst xmlns:a="http://schemas.openxmlformats.org/drawingml/2006/main">
              <a:ext uri="{FF2B5EF4-FFF2-40B4-BE49-F238E27FC236}">
                <a16:creationId xmlns:a16="http://schemas.microsoft.com/office/drawing/2014/main" id="{7B4A8868-C4F1-4CF2-BA47-0A2267C3C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4095750"/>
            <a:ext cx="9525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1800" b="1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원장 정합성 확인 및 알림</a:t>
            </a:r>
          </a:p>
        </p:txBody>
      </p:sp>
    </p:spTree>
    <p:extLst>
      <p:ext uri="{BB962C8B-B14F-4D97-AF65-F5344CB8AC3E}">
        <p14:creationId xmlns:p14="http://schemas.microsoft.com/office/powerpoint/2010/main" val="58617105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2026-08-13T10:05:55.4720000Z</dcterms:created>
  <dcterms:modified xsi:type="dcterms:W3CDTF">2026-08-13T10:05:55.4720000Z</dcterms:modified>
</coreProperties>
</file>