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1c7dbb101441a7" /><Relationship Type="http://schemas.openxmlformats.org/officeDocument/2006/relationships/extended-properties" Target="/docProps/app.xml" Id="Re748bbdb00864aea" /><Relationship Type="http://schemas.openxmlformats.org/officeDocument/2006/relationships/officeDocument" Target="/ppt/presentation.xml" Id="R0daa4546e1d549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11184940df4f75"/>
  </p:sldMasterIdLst>
  <p:notesMasterIdLst>
    <p:notesMasterId xmlns:r="http://schemas.openxmlformats.org/officeDocument/2006/relationships" r:id="R9adf3e352b914bbd"/>
  </p:notesMasterIdLst>
  <p:sldIdLst>
    <p:sldId xmlns:r="http://schemas.openxmlformats.org/officeDocument/2006/relationships" id="256" r:id="R6eccee5277224c74"/>
    <p:sldId xmlns:r="http://schemas.openxmlformats.org/officeDocument/2006/relationships" id="257" r:id="R05c8319047d04be3"/>
    <p:sldId xmlns:r="http://schemas.openxmlformats.org/officeDocument/2006/relationships" id="258" r:id="R51dd3953374847b3"/>
    <p:sldId xmlns:r="http://schemas.openxmlformats.org/officeDocument/2006/relationships" id="259" r:id="Rcd7d94c633b248f1"/>
    <p:sldId xmlns:r="http://schemas.openxmlformats.org/officeDocument/2006/relationships" id="260" r:id="R728cc98152274b0b"/>
    <p:sldId xmlns:r="http://schemas.openxmlformats.org/officeDocument/2006/relationships" id="261" r:id="R513aa796621840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ac84cdba7b41eb" /><Relationship Type="http://schemas.openxmlformats.org/officeDocument/2006/relationships/slideMaster" Target="/ppt/slideMasters/slideMaster1.xml" Id="Re911184940df4f75" /><Relationship Type="http://schemas.openxmlformats.org/officeDocument/2006/relationships/notesMaster" Target="/ppt/notesMasters/notesMaster1.xml" Id="R9adf3e352b914bbd" /><Relationship Type="http://schemas.openxmlformats.org/officeDocument/2006/relationships/presProps" Target="/ppt/presProps.xml" Id="R14ffc1dea6e44946" /><Relationship Type="http://schemas.openxmlformats.org/officeDocument/2006/relationships/tableStyles" Target="/ppt/tableStyles.xml" Id="R7da0f7008e63484d" /><Relationship Type="http://schemas.openxmlformats.org/officeDocument/2006/relationships/slide" Target="/ppt/slides/slide1.xml" Id="R6eccee5277224c74" /><Relationship Type="http://schemas.openxmlformats.org/officeDocument/2006/relationships/slide" Target="/ppt/slides/slide2.xml" Id="R05c8319047d04be3" /><Relationship Type="http://schemas.openxmlformats.org/officeDocument/2006/relationships/slide" Target="/ppt/slides/slide3.xml" Id="R51dd3953374847b3" /><Relationship Type="http://schemas.openxmlformats.org/officeDocument/2006/relationships/slide" Target="/ppt/slides/slide4.xml" Id="Rcd7d94c633b248f1" /><Relationship Type="http://schemas.openxmlformats.org/officeDocument/2006/relationships/slide" Target="/ppt/slides/slide5.xml" Id="R728cc98152274b0b" /><Relationship Type="http://schemas.openxmlformats.org/officeDocument/2006/relationships/slide" Target="/ppt/slides/slide6.xml" Id="R513aa796621840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93189752114d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78852b14264e21" /><Relationship Type="http://schemas.openxmlformats.org/officeDocument/2006/relationships/notesMaster" Target="/ppt/notesMasters/notesMaster1.xml" Id="Rd9905e546d7345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bad415f7634e8d" /><Relationship Type="http://schemas.openxmlformats.org/officeDocument/2006/relationships/notesMaster" Target="/ppt/notesMasters/notesMaster1.xml" Id="Rff10f767a27f41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63b75808564442" /><Relationship Type="http://schemas.openxmlformats.org/officeDocument/2006/relationships/notesMaster" Target="/ppt/notesMasters/notesMaster1.xml" Id="R71750044a9174f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5827e146e94496" /><Relationship Type="http://schemas.openxmlformats.org/officeDocument/2006/relationships/notesMaster" Target="/ppt/notesMasters/notesMaster1.xml" Id="Re5aa379737eb46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e75fdcfedd41c7" /><Relationship Type="http://schemas.openxmlformats.org/officeDocument/2006/relationships/notesMaster" Target="/ppt/notesMasters/notesMaster1.xml" Id="R02fb064fd17540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3f362c5da843ea" /><Relationship Type="http://schemas.openxmlformats.org/officeDocument/2006/relationships/notesMaster" Target="/ppt/notesMasters/notesMaster1.xml" Id="R55e12777583845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result.json#/domain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result.json#/domain/economy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result.json#/domain/experiment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result.json#/domain/experiment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result.json#/domain/economy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result.json#/domain/rollback</a:t>
            </a:r>
          </a:p>
          <a:p xmlns:a="http://schemas.openxmlformats.org/drawingml/2006/main">
            <a:r>
              <a:t>- approval-snapshot.json#/responsibleGates/1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c5d05fb2f941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61778319f844ab" /><Relationship Type="http://schemas.openxmlformats.org/officeDocument/2006/relationships/slideLayout" Target="/ppt/slideLayouts/slideLayout1.xml" Id="R80f5c7dd7df54c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f5c7dd7df54c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2471111c4406a" /><Relationship Type="http://schemas.openxmlformats.org/officeDocument/2006/relationships/notesSlide" Target="/ppt/notesSlides/notesSlide1.xml" Id="R5c8b305cb5ff4d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aa3bc16414ef6" /><Relationship Type="http://schemas.openxmlformats.org/officeDocument/2006/relationships/notesSlide" Target="/ppt/notesSlides/notesSlide2.xml" Id="Ra8c6fcdb7ca749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978c1671d4e8e" /><Relationship Type="http://schemas.openxmlformats.org/officeDocument/2006/relationships/notesSlide" Target="/ppt/notesSlides/notesSlide3.xml" Id="Rd1a81dc177da4f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73dcd9f794bec" /><Relationship Type="http://schemas.openxmlformats.org/officeDocument/2006/relationships/notesSlide" Target="/ppt/notesSlides/notesSlide4.xml" Id="R9c785900f9f249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8ec3e131a401f" /><Relationship Type="http://schemas.openxmlformats.org/officeDocument/2006/relationships/notesSlide" Target="/ppt/notesSlides/notesSlide5.xml" Id="R083a0f54aeba44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f9db0fe9347da" /><Relationship Type="http://schemas.openxmlformats.org/officeDocument/2006/relationships/notesSlide" Target="/ppt/notesSlides/notesSlide6.xml" Id="R7a1550c230434a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C62E5DD8-02CE-4762-B4AE-BF984E1A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D2Coding"/>
                <a:ea typeface="D2Coding"/>
                <a:cs typeface="D2Coding"/>
              </a:defRPr>
            </a:pPr>
            <a:r>
              <a:rPr sz="1200" b="1">
                <a:solidFill>
                  <a:srgbClr val="3D8DFF"/>
                </a:solidFill>
                <a:latin typeface="D2Coding"/>
                <a:ea typeface="D2Coding"/>
                <a:cs typeface="D2Coding"/>
              </a:rPr>
              <a:t>GAME DESIGN · EVIDENCE BRIEF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06D9E89-E354-4C52-8577-7BB558A4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7239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435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라이브 서비스 RPG</a:t>
            </a:r>
          </a:p>
          <a:p xmlns:a="http://schemas.openxmlformats.org/drawingml/2006/main">
            <a:pPr algn="l">
              <a:defRPr sz="435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435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경제 운영 브리프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18C84F2-6358-4A66-9709-CD99EB08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5569"/>
                </a:solidFill>
                <a:latin typeface="D2Coding"/>
                <a:ea typeface="D2Coding"/>
                <a:cs typeface="D2Coding"/>
              </a:defRPr>
            </a:pPr>
            <a:r>
              <a:rPr sz="1800" b="0">
                <a:solidFill>
                  <a:srgbClr val="475569"/>
                </a:solidFill>
                <a:latin typeface="D2Coding"/>
                <a:ea typeface="D2Coding"/>
                <a:cs typeface="D2Coding"/>
              </a:rPr>
              <a:t>루프 · 실험 · 가드레일 · 롤백</a:t>
            </a:r>
          </a:p>
        </p:txBody>
      </p:sp>
      <p:sp>
        <p:nvSpPr>
          <p:cNvPr id="4" name="cover-panel">
            <a:extLst xmlns:a="http://schemas.openxmlformats.org/drawingml/2006/main">
              <a:ext uri="{FF2B5EF4-FFF2-40B4-BE49-F238E27FC236}">
                <a16:creationId xmlns:a16="http://schemas.microsoft.com/office/drawing/2014/main" id="{4F292B9C-868D-4252-9C42-DA801EDC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4350"/>
            <a:ext cx="31432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cover-mark">
            <a:extLst xmlns:a="http://schemas.openxmlformats.org/drawingml/2006/main">
              <a:ext uri="{FF2B5EF4-FFF2-40B4-BE49-F238E27FC236}">
                <a16:creationId xmlns:a16="http://schemas.microsoft.com/office/drawing/2014/main" id="{2F0F8D2B-F1A7-4795-B879-C885F93B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76450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3D8DFF"/>
                </a:solidFill>
                <a:latin typeface="D2Coding"/>
                <a:ea typeface="D2Coding"/>
                <a:cs typeface="D2Coding"/>
              </a:defRPr>
            </a:pPr>
            <a:r>
              <a:rPr sz="5400" b="1">
                <a:solidFill>
                  <a:srgbClr val="3D8DFF"/>
                </a:solidFill>
                <a:latin typeface="D2Coding"/>
                <a:ea typeface="D2Coding"/>
                <a:cs typeface="D2Coding"/>
              </a:rPr>
              <a:t>5,000</a:t>
            </a:r>
          </a:p>
        </p:txBody>
      </p:sp>
      <p:sp>
        <p:nvSpPr>
          <p:cNvPr id="6" name="cover-caption">
            <a:extLst xmlns:a="http://schemas.openxmlformats.org/drawingml/2006/main">
              <a:ext uri="{FF2B5EF4-FFF2-40B4-BE49-F238E27FC236}">
                <a16:creationId xmlns:a16="http://schemas.microsoft.com/office/drawing/2014/main" id="{F9E7F053-76E5-4197-9339-3B00E58D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385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75569"/>
                </a:solidFill>
                <a:latin typeface="D2Coding"/>
                <a:ea typeface="D2Coding"/>
                <a:cs typeface="D2Coding"/>
              </a:defRPr>
            </a:pPr>
            <a:r>
              <a:rPr sz="1575" b="0">
                <a:solidFill>
                  <a:srgbClr val="475569"/>
                </a:solidFill>
                <a:latin typeface="D2Coding"/>
                <a:ea typeface="D2Coding"/>
                <a:cs typeface="D2Coding"/>
              </a:rPr>
              <a:t>목표 보유량</a:t>
            </a:r>
          </a:p>
        </p:txBody>
      </p:sp>
    </p:spTree>
    <p:extLst>
      <p:ext uri="{BB962C8B-B14F-4D97-AF65-F5344CB8AC3E}">
        <p14:creationId xmlns:p14="http://schemas.microsoft.com/office/powerpoint/2010/main" val="3505450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2">
            <a:extLst xmlns:a="http://schemas.openxmlformats.org/drawingml/2006/main">
              <a:ext uri="{FF2B5EF4-FFF2-40B4-BE49-F238E27FC236}">
                <a16:creationId xmlns:a16="http://schemas.microsoft.com/office/drawing/2014/main" id="{13D64439-158B-4B84-9470-E6AAAB65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285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경제 루프는 단순하고 검증 가능해야 한다</a:t>
            </a:r>
          </a:p>
        </p:txBody>
      </p:sp>
      <p:sp>
        <p:nvSpPr>
          <p:cNvPr id="2" name="number-2">
            <a:extLst xmlns:a="http://schemas.openxmlformats.org/drawingml/2006/main">
              <a:ext uri="{FF2B5EF4-FFF2-40B4-BE49-F238E27FC236}">
                <a16:creationId xmlns:a16="http://schemas.microsoft.com/office/drawing/2014/main" id="{69772386-785E-461D-8326-3777EDFF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D2Coding"/>
                <a:ea typeface="D2Coding"/>
                <a:cs typeface="D2Coding"/>
              </a:defRPr>
            </a:pPr>
            <a:r>
              <a:rPr sz="1050" b="0">
                <a:solidFill>
                  <a:srgbClr val="475569"/>
                </a:solidFill>
                <a:latin typeface="D2Coding"/>
                <a:ea typeface="D2Coding"/>
                <a:cs typeface="D2Coding"/>
              </a:rPr>
              <a:t>2</a:t>
            </a:r>
          </a:p>
        </p:txBody>
      </p:sp>
      <p:sp>
        <p:nvSpPr>
          <p:cNvPr id="3" name="half-body">
            <a:extLst xmlns:a="http://schemas.openxmlformats.org/drawingml/2006/main">
              <a:ext uri="{FF2B5EF4-FFF2-40B4-BE49-F238E27FC236}">
                <a16:creationId xmlns:a16="http://schemas.microsoft.com/office/drawing/2014/main" id="{6FA25EC7-8B6C-42D1-AD6E-0D83C20F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5238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875" b="0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일일 미션에서 소프트 재화를 획득하고 업그레이드에 소비한다. 운영 기준 보유량은 5,000이다.</a:t>
            </a:r>
          </a:p>
        </p:txBody>
      </p:sp>
      <p:sp>
        <p:nvSpPr>
          <p:cNvPr id="4" name="half-visual">
            <a:extLst xmlns:a="http://schemas.openxmlformats.org/drawingml/2006/main">
              <a:ext uri="{FF2B5EF4-FFF2-40B4-BE49-F238E27FC236}">
                <a16:creationId xmlns:a16="http://schemas.microsoft.com/office/drawing/2014/main" id="{73CDDA70-FE9D-4270-94E6-E0B8C73F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81125"/>
            <a:ext cx="55054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half-signal">
            <a:extLst xmlns:a="http://schemas.openxmlformats.org/drawingml/2006/main">
              <a:ext uri="{FF2B5EF4-FFF2-40B4-BE49-F238E27FC236}">
                <a16:creationId xmlns:a16="http://schemas.microsoft.com/office/drawing/2014/main" id="{0DE4E1B2-7099-4A1D-BCE0-57B3FBBC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24100"/>
            <a:ext cx="438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0" b="1">
                <a:solidFill>
                  <a:srgbClr val="3D8DFF"/>
                </a:solidFill>
                <a:latin typeface="D2Coding"/>
                <a:ea typeface="D2Coding"/>
                <a:cs typeface="D2Coding"/>
              </a:defRPr>
            </a:pPr>
            <a:r>
              <a:rPr sz="5550" b="1">
                <a:solidFill>
                  <a:srgbClr val="3D8DFF"/>
                </a:solidFill>
                <a:latin typeface="D2Coding"/>
                <a:ea typeface="D2Coding"/>
                <a:cs typeface="D2Coding"/>
              </a:rPr>
              <a:t>5,000</a:t>
            </a:r>
          </a:p>
        </p:txBody>
      </p:sp>
      <p:sp>
        <p:nvSpPr>
          <p:cNvPr id="6" name="half-caption">
            <a:extLst xmlns:a="http://schemas.openxmlformats.org/drawingml/2006/main">
              <a:ext uri="{FF2B5EF4-FFF2-40B4-BE49-F238E27FC236}">
                <a16:creationId xmlns:a16="http://schemas.microsoft.com/office/drawing/2014/main" id="{2F07A475-6EAA-47EB-8C4C-49188F70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1000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800" b="0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목표 보유량</a:t>
            </a:r>
          </a:p>
        </p:txBody>
      </p:sp>
    </p:spTree>
    <p:extLst>
      <p:ext uri="{BB962C8B-B14F-4D97-AF65-F5344CB8AC3E}">
        <p14:creationId xmlns:p14="http://schemas.microsoft.com/office/powerpoint/2010/main" val="6761180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3">
            <a:extLst xmlns:a="http://schemas.openxmlformats.org/drawingml/2006/main">
              <a:ext uri="{FF2B5EF4-FFF2-40B4-BE49-F238E27FC236}">
                <a16:creationId xmlns:a16="http://schemas.microsoft.com/office/drawing/2014/main" id="{A64D7BCF-1C87-475F-8A1C-E8EE6747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285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한 변수만 바꾸는 실험</a:t>
            </a:r>
          </a:p>
        </p:txBody>
      </p:sp>
      <p:sp>
        <p:nvSpPr>
          <p:cNvPr id="2" name="number-3">
            <a:extLst xmlns:a="http://schemas.openxmlformats.org/drawingml/2006/main">
              <a:ext uri="{FF2B5EF4-FFF2-40B4-BE49-F238E27FC236}">
                <a16:creationId xmlns:a16="http://schemas.microsoft.com/office/drawing/2014/main" id="{DC0AB048-DCE2-4C46-82F8-0EDA9F66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D2Coding"/>
                <a:ea typeface="D2Coding"/>
                <a:cs typeface="D2Coding"/>
              </a:defRPr>
            </a:pPr>
            <a:r>
              <a:rPr sz="1050" b="0">
                <a:solidFill>
                  <a:srgbClr val="475569"/>
                </a:solidFill>
                <a:latin typeface="D2Coding"/>
                <a:ea typeface="D2Coding"/>
                <a:cs typeface="D2Coding"/>
              </a:rPr>
              <a:t>3</a:t>
            </a:r>
          </a:p>
        </p:txBody>
      </p:sp>
      <p:sp>
        <p:nvSpPr>
          <p:cNvPr id="3" name="connector-1">
            <a:extLst xmlns:a="http://schemas.openxmlformats.org/drawingml/2006/main">
              <a:ext uri="{FF2B5EF4-FFF2-40B4-BE49-F238E27FC236}">
                <a16:creationId xmlns:a16="http://schemas.microsoft.com/office/drawing/2014/main" id="{2CBD0768-FAD8-43FE-80BA-207E37AF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623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nector-2">
            <a:extLst xmlns:a="http://schemas.openxmlformats.org/drawingml/2006/main">
              <a:ext uri="{FF2B5EF4-FFF2-40B4-BE49-F238E27FC236}">
                <a16:creationId xmlns:a16="http://schemas.microsoft.com/office/drawing/2014/main" id="{606BB9B3-9999-4F02-A015-38F56213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623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node-1">
            <a:extLst xmlns:a="http://schemas.openxmlformats.org/drawingml/2006/main">
              <a:ext uri="{FF2B5EF4-FFF2-40B4-BE49-F238E27FC236}">
                <a16:creationId xmlns:a16="http://schemas.microsoft.com/office/drawing/2014/main" id="{DD622B7D-B313-484B-B923-C8F3D1CC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80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현재 지급률</a:t>
            </a:r>
          </a:p>
        </p:txBody>
      </p:sp>
      <p:sp>
        <p:nvSpPr>
          <p:cNvPr id="6" name="node-2">
            <a:extLst xmlns:a="http://schemas.openxmlformats.org/drawingml/2006/main">
              <a:ext uri="{FF2B5EF4-FFF2-40B4-BE49-F238E27FC236}">
                <a16:creationId xmlns:a16="http://schemas.microsoft.com/office/drawing/2014/main" id="{11BA838C-138E-45D8-A942-02CADD56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8125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80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일일 미션 지급량</a:t>
            </a:r>
          </a:p>
        </p:txBody>
      </p:sp>
      <p:sp>
        <p:nvSpPr>
          <p:cNvPr id="7" name="node-3">
            <a:extLst xmlns:a="http://schemas.openxmlformats.org/drawingml/2006/main">
              <a:ext uri="{FF2B5EF4-FFF2-40B4-BE49-F238E27FC236}">
                <a16:creationId xmlns:a16="http://schemas.microsoft.com/office/drawing/2014/main" id="{89524808-E504-4359-8628-AF87A236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80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진행 체감</a:t>
            </a:r>
          </a:p>
        </p:txBody>
      </p:sp>
      <p:sp>
        <p:nvSpPr>
          <p:cNvPr id="8" name="diagram-footer">
            <a:extLst xmlns:a="http://schemas.openxmlformats.org/drawingml/2006/main">
              <a:ext uri="{FF2B5EF4-FFF2-40B4-BE49-F238E27FC236}">
                <a16:creationId xmlns:a16="http://schemas.microsoft.com/office/drawing/2014/main" id="{1960B848-D687-48D2-8355-882D3219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D2Coding"/>
                <a:ea typeface="D2Coding"/>
                <a:cs typeface="D2Coding"/>
              </a:defRPr>
            </a:pPr>
            <a:r>
              <a:rPr sz="1500" b="0">
                <a:solidFill>
                  <a:srgbClr val="475569"/>
                </a:solidFill>
                <a:latin typeface="D2Coding"/>
                <a:ea typeface="D2Coding"/>
                <a:cs typeface="D2Coding"/>
              </a:rPr>
              <a:t>가설: 제한된 공급 조정은 인플레이션 없이 진행을 개선한다.</a:t>
            </a:r>
          </a:p>
        </p:txBody>
      </p:sp>
    </p:spTree>
    <p:extLst>
      <p:ext uri="{BB962C8B-B14F-4D97-AF65-F5344CB8AC3E}">
        <p14:creationId xmlns:p14="http://schemas.microsoft.com/office/powerpoint/2010/main" val="16697607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4">
            <a:extLst xmlns:a="http://schemas.openxmlformats.org/drawingml/2006/main">
              <a:ext uri="{FF2B5EF4-FFF2-40B4-BE49-F238E27FC236}">
                <a16:creationId xmlns:a16="http://schemas.microsoft.com/office/drawing/2014/main" id="{F7A33EA3-B77B-4D84-A092-95C8FB77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285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실험 제어표</a:t>
            </a:r>
          </a:p>
        </p:txBody>
      </p:sp>
      <p:sp>
        <p:nvSpPr>
          <p:cNvPr id="2" name="number-4">
            <a:extLst xmlns:a="http://schemas.openxmlformats.org/drawingml/2006/main">
              <a:ext uri="{FF2B5EF4-FFF2-40B4-BE49-F238E27FC236}">
                <a16:creationId xmlns:a16="http://schemas.microsoft.com/office/drawing/2014/main" id="{EB05E460-0721-46A0-8A5A-D73D4B65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D2Coding"/>
                <a:ea typeface="D2Coding"/>
                <a:cs typeface="D2Coding"/>
              </a:defRPr>
            </a:pPr>
            <a:r>
              <a:rPr sz="1050" b="0">
                <a:solidFill>
                  <a:srgbClr val="475569"/>
                </a:solidFill>
                <a:latin typeface="D2Coding"/>
                <a:ea typeface="D2Coding"/>
                <a:cs typeface="D2Coding"/>
              </a:rPr>
              <a:t>4</a:t>
            </a:r>
          </a:p>
        </p:txBody>
      </p:sp>
      <p:sp>
        <p:nvSpPr>
          <p:cNvPr id="3" name="cell-0-0">
            <a:extLst xmlns:a="http://schemas.openxmlformats.org/drawingml/2006/main">
              <a:ext uri="{FF2B5EF4-FFF2-40B4-BE49-F238E27FC236}">
                <a16:creationId xmlns:a16="http://schemas.microsoft.com/office/drawing/2014/main" id="{1DAB4536-FA1E-4789-8F8C-4E0E5011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3714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50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항목</a:t>
            </a:r>
          </a:p>
        </p:txBody>
      </p:sp>
      <p:sp>
        <p:nvSpPr>
          <p:cNvPr id="4" name="cell-0-1">
            <a:extLst xmlns:a="http://schemas.openxmlformats.org/drawingml/2006/main">
              <a:ext uri="{FF2B5EF4-FFF2-40B4-BE49-F238E27FC236}">
                <a16:creationId xmlns:a16="http://schemas.microsoft.com/office/drawing/2014/main" id="{583646F7-C062-4DF1-A5CF-E3101B7B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28750"/>
            <a:ext cx="7581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50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계약</a:t>
            </a:r>
          </a:p>
        </p:txBody>
      </p:sp>
      <p:sp>
        <p:nvSpPr>
          <p:cNvPr id="5" name="cell-1-0">
            <a:extLst xmlns:a="http://schemas.openxmlformats.org/drawingml/2006/main">
              <a:ext uri="{FF2B5EF4-FFF2-40B4-BE49-F238E27FC236}">
                <a16:creationId xmlns:a16="http://schemas.microsoft.com/office/drawing/2014/main" id="{141028E4-CCB4-468C-8F16-0D2F6CD5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3714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350" b="0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대조군</a:t>
            </a:r>
          </a:p>
        </p:txBody>
      </p:sp>
      <p:sp>
        <p:nvSpPr>
          <p:cNvPr id="6" name="cell-1-1">
            <a:extLst xmlns:a="http://schemas.openxmlformats.org/drawingml/2006/main">
              <a:ext uri="{FF2B5EF4-FFF2-40B4-BE49-F238E27FC236}">
                <a16:creationId xmlns:a16="http://schemas.microsoft.com/office/drawing/2014/main" id="{BE70C796-D2BB-40E3-88B1-FED3614C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33600"/>
            <a:ext cx="7581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350" b="0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현재 지급률</a:t>
            </a:r>
          </a:p>
        </p:txBody>
      </p:sp>
      <p:sp>
        <p:nvSpPr>
          <p:cNvPr id="7" name="cell-2-0">
            <a:extLst xmlns:a="http://schemas.openxmlformats.org/drawingml/2006/main">
              <a:ext uri="{FF2B5EF4-FFF2-40B4-BE49-F238E27FC236}">
                <a16:creationId xmlns:a16="http://schemas.microsoft.com/office/drawing/2014/main" id="{438D86D9-C622-42B2-B3A9-EAC7E430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38450"/>
            <a:ext cx="3714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350" b="0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단일 변수</a:t>
            </a:r>
          </a:p>
        </p:txBody>
      </p:sp>
      <p:sp>
        <p:nvSpPr>
          <p:cNvPr id="8" name="cell-2-1">
            <a:extLst xmlns:a="http://schemas.openxmlformats.org/drawingml/2006/main">
              <a:ext uri="{FF2B5EF4-FFF2-40B4-BE49-F238E27FC236}">
                <a16:creationId xmlns:a16="http://schemas.microsoft.com/office/drawing/2014/main" id="{B7D566E2-CE4D-442B-A02D-9662FFD4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38450"/>
            <a:ext cx="7581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350" b="0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일일 미션 지급량</a:t>
            </a:r>
          </a:p>
        </p:txBody>
      </p:sp>
      <p:sp>
        <p:nvSpPr>
          <p:cNvPr id="9" name="cell-3-0">
            <a:extLst xmlns:a="http://schemas.openxmlformats.org/drawingml/2006/main">
              <a:ext uri="{FF2B5EF4-FFF2-40B4-BE49-F238E27FC236}">
                <a16:creationId xmlns:a16="http://schemas.microsoft.com/office/drawing/2014/main" id="{91C0A238-E18F-4DD7-A274-C24993C0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43300"/>
            <a:ext cx="3714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350" b="0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가드레일</a:t>
            </a:r>
          </a:p>
        </p:txBody>
      </p:sp>
      <p:sp>
        <p:nvSpPr>
          <p:cNvPr id="10" name="cell-3-1">
            <a:extLst xmlns:a="http://schemas.openxmlformats.org/drawingml/2006/main">
              <a:ext uri="{FF2B5EF4-FFF2-40B4-BE49-F238E27FC236}">
                <a16:creationId xmlns:a16="http://schemas.microsoft.com/office/drawing/2014/main" id="{D5DD16F3-31F9-4815-A1D7-D68C4DDD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43300"/>
            <a:ext cx="7581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350" b="0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주간 인플레이션율</a:t>
            </a:r>
          </a:p>
        </p:txBody>
      </p:sp>
      <p:sp>
        <p:nvSpPr>
          <p:cNvPr id="11" name="cell-4-0">
            <a:extLst xmlns:a="http://schemas.openxmlformats.org/drawingml/2006/main">
              <a:ext uri="{FF2B5EF4-FFF2-40B4-BE49-F238E27FC236}">
                <a16:creationId xmlns:a16="http://schemas.microsoft.com/office/drawing/2014/main" id="{D20F41E1-9AD5-406E-B57A-9EEF8151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48150"/>
            <a:ext cx="3714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350" b="0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중단 조건</a:t>
            </a:r>
          </a:p>
        </p:txBody>
      </p:sp>
      <p:sp>
        <p:nvSpPr>
          <p:cNvPr id="12" name="cell-4-1">
            <a:extLst xmlns:a="http://schemas.openxmlformats.org/drawingml/2006/main">
              <a:ext uri="{FF2B5EF4-FFF2-40B4-BE49-F238E27FC236}">
                <a16:creationId xmlns:a16="http://schemas.microsoft.com/office/drawing/2014/main" id="{9912A3C7-4EE3-4881-83D8-0A90D55B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48150"/>
            <a:ext cx="7581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350" b="0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가드레일 위반</a:t>
            </a:r>
          </a:p>
        </p:txBody>
      </p:sp>
    </p:spTree>
    <p:extLst>
      <p:ext uri="{BB962C8B-B14F-4D97-AF65-F5344CB8AC3E}">
        <p14:creationId xmlns:p14="http://schemas.microsoft.com/office/powerpoint/2010/main" val="16713303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B172C2A7-D71E-4CFA-B64D-7CBB9928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285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운영 가드레일</a:t>
            </a:r>
          </a:p>
        </p:txBody>
      </p:sp>
      <p:sp>
        <p:nvSpPr>
          <p:cNvPr id="2" name="number-5">
            <a:extLst xmlns:a="http://schemas.openxmlformats.org/drawingml/2006/main">
              <a:ext uri="{FF2B5EF4-FFF2-40B4-BE49-F238E27FC236}">
                <a16:creationId xmlns:a16="http://schemas.microsoft.com/office/drawing/2014/main" id="{FC4DC625-78CC-4E0E-A5DD-F28E49A7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D2Coding"/>
                <a:ea typeface="D2Coding"/>
                <a:cs typeface="D2Coding"/>
              </a:defRPr>
            </a:pPr>
            <a:r>
              <a:rPr sz="1050" b="0">
                <a:solidFill>
                  <a:srgbClr val="475569"/>
                </a:solidFill>
                <a:latin typeface="D2Coding"/>
                <a:ea typeface="D2Coding"/>
                <a:cs typeface="D2Coding"/>
              </a:rPr>
              <a:t>5</a:t>
            </a:r>
          </a:p>
        </p:txBody>
      </p:sp>
      <p:sp>
        <p:nvSpPr>
          <p:cNvPr id="3" name="stat-panel-0">
            <a:extLst xmlns:a="http://schemas.openxmlformats.org/drawingml/2006/main">
              <a:ext uri="{FF2B5EF4-FFF2-40B4-BE49-F238E27FC236}">
                <a16:creationId xmlns:a16="http://schemas.microsoft.com/office/drawing/2014/main" id="{5D386AFA-3DC3-40B9-9F10-A6DD05BD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35623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at-0">
            <a:extLst xmlns:a="http://schemas.openxmlformats.org/drawingml/2006/main">
              <a:ext uri="{FF2B5EF4-FFF2-40B4-BE49-F238E27FC236}">
                <a16:creationId xmlns:a16="http://schemas.microsoft.com/office/drawing/2014/main" id="{3C64BF31-1397-41AE-BF28-1A1FF121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2990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435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5,000</a:t>
            </a:r>
          </a:p>
        </p:txBody>
      </p:sp>
      <p:sp>
        <p:nvSpPr>
          <p:cNvPr id="5" name="stat-caption-0">
            <a:extLst xmlns:a="http://schemas.openxmlformats.org/drawingml/2006/main">
              <a:ext uri="{FF2B5EF4-FFF2-40B4-BE49-F238E27FC236}">
                <a16:creationId xmlns:a16="http://schemas.microsoft.com/office/drawing/2014/main" id="{0B289F68-C5E7-4964-A7AB-E7467417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2990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575" b="0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목표 보유량</a:t>
            </a:r>
          </a:p>
        </p:txBody>
      </p:sp>
      <p:sp>
        <p:nvSpPr>
          <p:cNvPr id="6" name="stat-panel-1">
            <a:extLst xmlns:a="http://schemas.openxmlformats.org/drawingml/2006/main">
              <a:ext uri="{FF2B5EF4-FFF2-40B4-BE49-F238E27FC236}">
                <a16:creationId xmlns:a16="http://schemas.microsoft.com/office/drawing/2014/main" id="{24F062E7-C7D1-41AD-BBBB-6B7886DA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35623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10AEBCD4-18C6-47DB-B2D4-33FFB154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990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435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공개</a:t>
            </a:r>
          </a:p>
        </p:txBody>
      </p:sp>
      <p:sp>
        <p:nvSpPr>
          <p:cNvPr id="8" name="stat-caption-1">
            <a:extLst xmlns:a="http://schemas.openxmlformats.org/drawingml/2006/main">
              <a:ext uri="{FF2B5EF4-FFF2-40B4-BE49-F238E27FC236}">
                <a16:creationId xmlns:a16="http://schemas.microsoft.com/office/drawing/2014/main" id="{D14E2FEC-8ED8-4E82-93EB-62EBA653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91000"/>
            <a:ext cx="2990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575" b="0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확률</a:t>
            </a:r>
          </a:p>
        </p:txBody>
      </p:sp>
      <p:sp>
        <p:nvSpPr>
          <p:cNvPr id="9" name="stat-panel-2">
            <a:extLst xmlns:a="http://schemas.openxmlformats.org/drawingml/2006/main">
              <a:ext uri="{FF2B5EF4-FFF2-40B4-BE49-F238E27FC236}">
                <a16:creationId xmlns:a16="http://schemas.microsoft.com/office/drawing/2014/main" id="{C76843ED-AF53-44E7-8BBA-1E01FC11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81250"/>
            <a:ext cx="35623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t-2">
            <a:extLst xmlns:a="http://schemas.openxmlformats.org/drawingml/2006/main">
              <a:ext uri="{FF2B5EF4-FFF2-40B4-BE49-F238E27FC236}">
                <a16:creationId xmlns:a16="http://schemas.microsoft.com/office/drawing/2014/main" id="{673F88F9-DA1A-4AA8-9641-4336978E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48000"/>
            <a:ext cx="2990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435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숨김 없음</a:t>
            </a:r>
          </a:p>
        </p:txBody>
      </p:sp>
      <p:sp>
        <p:nvSpPr>
          <p:cNvPr id="11" name="stat-caption-2">
            <a:extLst xmlns:a="http://schemas.openxmlformats.org/drawingml/2006/main">
              <a:ext uri="{FF2B5EF4-FFF2-40B4-BE49-F238E27FC236}">
                <a16:creationId xmlns:a16="http://schemas.microsoft.com/office/drawing/2014/main" id="{108B4981-27FC-4672-AD37-2D052654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91000"/>
            <a:ext cx="2990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575" b="0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환산</a:t>
            </a:r>
          </a:p>
        </p:txBody>
      </p:sp>
    </p:spTree>
    <p:extLst>
      <p:ext uri="{BB962C8B-B14F-4D97-AF65-F5344CB8AC3E}">
        <p14:creationId xmlns:p14="http://schemas.microsoft.com/office/powerpoint/2010/main" val="8741540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6">
            <a:extLst xmlns:a="http://schemas.openxmlformats.org/drawingml/2006/main">
              <a:ext uri="{FF2B5EF4-FFF2-40B4-BE49-F238E27FC236}">
                <a16:creationId xmlns:a16="http://schemas.microsoft.com/office/drawing/2014/main" id="{078C342A-2449-4B75-A50C-23E5C7C7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285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위반 시 자동 롤백</a:t>
            </a:r>
          </a:p>
        </p:txBody>
      </p:sp>
      <p:sp>
        <p:nvSpPr>
          <p:cNvPr id="2" name="number-6">
            <a:extLst xmlns:a="http://schemas.openxmlformats.org/drawingml/2006/main">
              <a:ext uri="{FF2B5EF4-FFF2-40B4-BE49-F238E27FC236}">
                <a16:creationId xmlns:a16="http://schemas.microsoft.com/office/drawing/2014/main" id="{4D819D77-E68C-4500-A762-4DB7C5D8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D2Coding"/>
                <a:ea typeface="D2Coding"/>
                <a:cs typeface="D2Coding"/>
              </a:defRPr>
            </a:pPr>
            <a:r>
              <a:rPr sz="1050" b="0">
                <a:solidFill>
                  <a:srgbClr val="475569"/>
                </a:solidFill>
                <a:latin typeface="D2Coding"/>
                <a:ea typeface="D2Coding"/>
                <a:cs typeface="D2Coding"/>
              </a:rPr>
              <a:t>6</a:t>
            </a:r>
          </a:p>
        </p:txBody>
      </p:sp>
      <p:sp>
        <p:nvSpPr>
          <p:cNvPr id="3" name="step-num-0">
            <a:extLst xmlns:a="http://schemas.openxmlformats.org/drawingml/2006/main">
              <a:ext uri="{FF2B5EF4-FFF2-40B4-BE49-F238E27FC236}">
                <a16:creationId xmlns:a16="http://schemas.microsoft.com/office/drawing/2014/main" id="{EF8C45B9-8A9E-420F-8A3B-12293DF0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2325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1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1C8E5D51-F86C-4B84-966F-2FD15EC7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19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80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가드레일 위반 감지</a:t>
            </a:r>
          </a:p>
        </p:txBody>
      </p:sp>
      <p:sp>
        <p:nvSpPr>
          <p:cNvPr id="5" name="step-num-1">
            <a:extLst xmlns:a="http://schemas.openxmlformats.org/drawingml/2006/main">
              <a:ext uri="{FF2B5EF4-FFF2-40B4-BE49-F238E27FC236}">
                <a16:creationId xmlns:a16="http://schemas.microsoft.com/office/drawing/2014/main" id="{CBA72FB5-EB84-4907-81CB-006F5FE8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2325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2</a:t>
            </a:r>
          </a:p>
        </p:txBody>
      </p:sp>
      <p:sp>
        <p:nvSpPr>
          <p:cNvPr id="6" name="step-1">
            <a:extLst xmlns:a="http://schemas.openxmlformats.org/drawingml/2006/main">
              <a:ext uri="{FF2B5EF4-FFF2-40B4-BE49-F238E27FC236}">
                <a16:creationId xmlns:a16="http://schemas.microsoft.com/office/drawing/2014/main" id="{413B4E42-6AE6-4108-A0E8-D7127FCF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575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80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마지막 정상 설정 복구</a:t>
            </a:r>
          </a:p>
        </p:txBody>
      </p:sp>
      <p:sp>
        <p:nvSpPr>
          <p:cNvPr id="7" name="step-num-2">
            <a:extLst xmlns:a="http://schemas.openxmlformats.org/drawingml/2006/main">
              <a:ext uri="{FF2B5EF4-FFF2-40B4-BE49-F238E27FC236}">
                <a16:creationId xmlns:a16="http://schemas.microsoft.com/office/drawing/2014/main" id="{1F8BC04D-9BC9-4F2B-BB4B-F7F9AA46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2325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3</a:t>
            </a:r>
          </a:p>
        </p:txBody>
      </p:sp>
      <p:sp>
        <p:nvSpPr>
          <p:cNvPr id="8" name="step-2">
            <a:extLst xmlns:a="http://schemas.openxmlformats.org/drawingml/2006/main">
              <a:ext uri="{FF2B5EF4-FFF2-40B4-BE49-F238E27FC236}">
                <a16:creationId xmlns:a16="http://schemas.microsoft.com/office/drawing/2014/main" id="{C138D39B-65DC-4CD8-8858-1CB96693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957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80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원장 정합성 확인 및 알림</a:t>
            </a:r>
          </a:p>
        </p:txBody>
      </p:sp>
    </p:spTree>
    <p:extLst>
      <p:ext uri="{BB962C8B-B14F-4D97-AF65-F5344CB8AC3E}">
        <p14:creationId xmlns:p14="http://schemas.microsoft.com/office/powerpoint/2010/main" val="342442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2026-08-05T05:05:46.5030000Z</dcterms:created>
  <dcterms:modified xsi:type="dcterms:W3CDTF">2026-08-05T05:05:46.5030000Z</dcterms:modified>
</coreProperties>
</file>