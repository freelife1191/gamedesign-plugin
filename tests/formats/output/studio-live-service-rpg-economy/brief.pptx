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d3e12def5c4ebc" /><Relationship Type="http://schemas.openxmlformats.org/officeDocument/2006/relationships/extended-properties" Target="/docProps/app.xml" Id="R36616f6a54d647d6" /><Relationship Type="http://schemas.openxmlformats.org/officeDocument/2006/relationships/officeDocument" Target="/ppt/presentation.xml" Id="R6e297ac3173043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d758148efc4650"/>
  </p:sldMasterIdLst>
  <p:notesMasterIdLst>
    <p:notesMasterId xmlns:r="http://schemas.openxmlformats.org/officeDocument/2006/relationships" r:id="Rd876bad76dba431c"/>
  </p:notesMasterIdLst>
  <p:sldIdLst>
    <p:sldId xmlns:r="http://schemas.openxmlformats.org/officeDocument/2006/relationships" id="256" r:id="R9374dd746e8b4409"/>
    <p:sldId xmlns:r="http://schemas.openxmlformats.org/officeDocument/2006/relationships" id="257" r:id="Rf02addc777364dd8"/>
    <p:sldId xmlns:r="http://schemas.openxmlformats.org/officeDocument/2006/relationships" id="258" r:id="R45c3407f42054a41"/>
    <p:sldId xmlns:r="http://schemas.openxmlformats.org/officeDocument/2006/relationships" id="259" r:id="R6c4c495616df41ba"/>
    <p:sldId xmlns:r="http://schemas.openxmlformats.org/officeDocument/2006/relationships" id="260" r:id="R7a1a7ce36851428d"/>
    <p:sldId xmlns:r="http://schemas.openxmlformats.org/officeDocument/2006/relationships" id="261" r:id="R9fd98d401e4643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dbc8eb4bbc4403" /><Relationship Type="http://schemas.openxmlformats.org/officeDocument/2006/relationships/slideMaster" Target="/ppt/slideMasters/slideMaster1.xml" Id="R98d758148efc4650" /><Relationship Type="http://schemas.openxmlformats.org/officeDocument/2006/relationships/notesMaster" Target="/ppt/notesMasters/notesMaster1.xml" Id="Rd876bad76dba431c" /><Relationship Type="http://schemas.openxmlformats.org/officeDocument/2006/relationships/presProps" Target="/ppt/presProps.xml" Id="R441543ce3c724bf2" /><Relationship Type="http://schemas.openxmlformats.org/officeDocument/2006/relationships/tableStyles" Target="/ppt/tableStyles.xml" Id="R93249b89e57944cb" /><Relationship Type="http://schemas.openxmlformats.org/officeDocument/2006/relationships/slide" Target="/ppt/slides/slide1.xml" Id="R9374dd746e8b4409" /><Relationship Type="http://schemas.openxmlformats.org/officeDocument/2006/relationships/slide" Target="/ppt/slides/slide2.xml" Id="Rf02addc777364dd8" /><Relationship Type="http://schemas.openxmlformats.org/officeDocument/2006/relationships/slide" Target="/ppt/slides/slide3.xml" Id="R45c3407f42054a41" /><Relationship Type="http://schemas.openxmlformats.org/officeDocument/2006/relationships/slide" Target="/ppt/slides/slide4.xml" Id="R6c4c495616df41ba" /><Relationship Type="http://schemas.openxmlformats.org/officeDocument/2006/relationships/slide" Target="/ppt/slides/slide5.xml" Id="R7a1a7ce36851428d" /><Relationship Type="http://schemas.openxmlformats.org/officeDocument/2006/relationships/slide" Target="/ppt/slides/slide6.xml" Id="R9fd98d401e4643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f0da5f06ee40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398d7443374ff2" /><Relationship Type="http://schemas.openxmlformats.org/officeDocument/2006/relationships/notesMaster" Target="/ppt/notesMasters/notesMaster1.xml" Id="R938b62a636ea4f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934aad390a4681" /><Relationship Type="http://schemas.openxmlformats.org/officeDocument/2006/relationships/notesMaster" Target="/ppt/notesMasters/notesMaster1.xml" Id="R4abce31d9a4140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e6cf1fe4bc4692" /><Relationship Type="http://schemas.openxmlformats.org/officeDocument/2006/relationships/notesMaster" Target="/ppt/notesMasters/notesMaster1.xml" Id="Rd10904937c7e48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37aa4778e24e8a" /><Relationship Type="http://schemas.openxmlformats.org/officeDocument/2006/relationships/notesMaster" Target="/ppt/notesMasters/notesMaster1.xml" Id="Ra434e9db4ebb4f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4f1ff7f4c144c7" /><Relationship Type="http://schemas.openxmlformats.org/officeDocument/2006/relationships/notesMaster" Target="/ppt/notesMasters/notesMaster1.xml" Id="R25392694e962461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21fa8b448a418b" /><Relationship Type="http://schemas.openxmlformats.org/officeDocument/2006/relationships/notesMaster" Target="/ppt/notesMasters/notesMaster1.xml" Id="Rcabb69aa78cb47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result.json#/domain/economy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result.json#/domain/experiment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result.json#/domain/experiment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result.json#/domain/economy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result.json#/domain/rollback</a:t>
            </a:r>
          </a:p>
          <a:p xmlns:a="http://schemas.openxmlformats.org/drawingml/2006/main">
            <a:r>
              <a:t>- approval-snapshot.json#/responsibleGates/1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097cca52c4e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a3785cce354b5d" /><Relationship Type="http://schemas.openxmlformats.org/officeDocument/2006/relationships/slideLayout" Target="/ppt/slideLayouts/slideLayout1.xml" Id="Rb84df328131742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4df328131742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440b590614484" /><Relationship Type="http://schemas.openxmlformats.org/officeDocument/2006/relationships/notesSlide" Target="/ppt/notesSlides/notesSlide1.xml" Id="Rc2f65d11db9343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6d264c864340a3" /><Relationship Type="http://schemas.openxmlformats.org/officeDocument/2006/relationships/notesSlide" Target="/ppt/notesSlides/notesSlide2.xml" Id="R60b0cb418d4c46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10d381f934388" /><Relationship Type="http://schemas.openxmlformats.org/officeDocument/2006/relationships/notesSlide" Target="/ppt/notesSlides/notesSlide3.xml" Id="Rb0df521e5b624e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e1eef68c8465e" /><Relationship Type="http://schemas.openxmlformats.org/officeDocument/2006/relationships/notesSlide" Target="/ppt/notesSlides/notesSlide4.xml" Id="Rb7d47a250581431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2f07fd3ba34e26" /><Relationship Type="http://schemas.openxmlformats.org/officeDocument/2006/relationships/notesSlide" Target="/ppt/notesSlides/notesSlide5.xml" Id="R251c243cff1e4ae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1d4e26045e4d2a" /><Relationship Type="http://schemas.openxmlformats.org/officeDocument/2006/relationships/notesSlide" Target="/ppt/notesSlides/notesSlide6.xml" Id="R39bafb24e07941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1C32806D-F422-4E9B-807F-3E8CD8BA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12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GAME DESIGN · EVIDENCE BRIEF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6E0E1A2-F197-4B82-928E-C02FFFF16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0"/>
            <a:ext cx="723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라이브 서비스 RPG</a:t>
            </a:r>
          </a:p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경제 운영 브리프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A3251DC8-C6CD-4EC8-BE84-C2D2C0DB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루프 · 실험 · 가드레일 · 롤백</a:t>
            </a:r>
          </a:p>
        </p:txBody>
      </p:sp>
      <p:sp>
        <p:nvSpPr>
          <p:cNvPr id="4" name="cover-panel">
            <a:extLst xmlns:a="http://schemas.openxmlformats.org/drawingml/2006/main">
              <a:ext uri="{FF2B5EF4-FFF2-40B4-BE49-F238E27FC236}">
                <a16:creationId xmlns:a16="http://schemas.microsoft.com/office/drawing/2014/main" id="{BC24E987-0FB6-478C-91F9-5160EA7C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14350"/>
            <a:ext cx="3143250" cy="533400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cover-mark">
            <a:extLst xmlns:a="http://schemas.openxmlformats.org/drawingml/2006/main">
              <a:ext uri="{FF2B5EF4-FFF2-40B4-BE49-F238E27FC236}">
                <a16:creationId xmlns:a16="http://schemas.microsoft.com/office/drawing/2014/main" id="{530AB30F-4092-48CF-BB6D-2617E654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76450"/>
            <a:ext cx="257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40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6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95A823CB-7476-4C2D-8AF5-BD4C246E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38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</p:spTree>
    <p:extLst>
      <p:ext uri="{BB962C8B-B14F-4D97-AF65-F5344CB8AC3E}">
        <p14:creationId xmlns:p14="http://schemas.microsoft.com/office/powerpoint/2010/main" val="20889028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2">
            <a:extLst xmlns:a="http://schemas.openxmlformats.org/drawingml/2006/main">
              <a:ext uri="{FF2B5EF4-FFF2-40B4-BE49-F238E27FC236}">
                <a16:creationId xmlns:a16="http://schemas.microsoft.com/office/drawing/2014/main" id="{3739BC6D-ABD7-417E-B096-C4F160DB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경제 루프는 단순하고 검증 가능해야 한다</a:t>
            </a:r>
          </a:p>
        </p:txBody>
      </p:sp>
      <p:sp>
        <p:nvSpPr>
          <p:cNvPr id="2" name="number-2">
            <a:extLst xmlns:a="http://schemas.openxmlformats.org/drawingml/2006/main">
              <a:ext uri="{FF2B5EF4-FFF2-40B4-BE49-F238E27FC236}">
                <a16:creationId xmlns:a16="http://schemas.microsoft.com/office/drawing/2014/main" id="{14995A50-DF1E-4DCF-A87B-C131D06A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3" name="half-body">
            <a:extLst xmlns:a="http://schemas.openxmlformats.org/drawingml/2006/main">
              <a:ext uri="{FF2B5EF4-FFF2-40B4-BE49-F238E27FC236}">
                <a16:creationId xmlns:a16="http://schemas.microsoft.com/office/drawing/2014/main" id="{CD8CAAC1-795F-446E-82F4-371E0C62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5238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미션에서 소프트 재화를 획득하고 업그레이드에 소비한다. 운영 기준 보유량은 5,000이다.</a:t>
            </a:r>
          </a:p>
        </p:txBody>
      </p:sp>
      <p:sp>
        <p:nvSpPr>
          <p:cNvPr id="4" name="half-visual">
            <a:extLst xmlns:a="http://schemas.openxmlformats.org/drawingml/2006/main">
              <a:ext uri="{FF2B5EF4-FFF2-40B4-BE49-F238E27FC236}">
                <a16:creationId xmlns:a16="http://schemas.microsoft.com/office/drawing/2014/main" id="{B415B0C3-2740-4A98-9CD6-A153FDCCE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81125"/>
            <a:ext cx="5505450" cy="4572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half-signal">
            <a:extLst xmlns:a="http://schemas.openxmlformats.org/drawingml/2006/main">
              <a:ext uri="{FF2B5EF4-FFF2-40B4-BE49-F238E27FC236}">
                <a16:creationId xmlns:a16="http://schemas.microsoft.com/office/drawing/2014/main" id="{B3E4F0A1-3709-4960-8D6D-1DC78A591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24100"/>
            <a:ext cx="438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550" b="1">
                <a:solidFill>
                  <a:srgbClr val="3D8DFF"/>
                </a:solidFill>
                <a:latin typeface="D2Coding"/>
                <a:ea typeface="D2Coding"/>
                <a:cs typeface="D2Coding"/>
              </a:defRPr>
            </a:pPr>
            <a:r>
              <a:rPr sz="5550" b="1">
                <a:solidFill>
                  <a:srgbClr val="3D8DFF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6" name="half-caption">
            <a:extLst xmlns:a="http://schemas.openxmlformats.org/drawingml/2006/main">
              <a:ext uri="{FF2B5EF4-FFF2-40B4-BE49-F238E27FC236}">
                <a16:creationId xmlns:a16="http://schemas.microsoft.com/office/drawing/2014/main" id="{BC1BED58-5AFD-47FD-92C2-11F0E03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10000"/>
            <a:ext cx="438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</p:spTree>
    <p:extLst>
      <p:ext uri="{BB962C8B-B14F-4D97-AF65-F5344CB8AC3E}">
        <p14:creationId xmlns:p14="http://schemas.microsoft.com/office/powerpoint/2010/main" val="18971629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3">
            <a:extLst xmlns:a="http://schemas.openxmlformats.org/drawingml/2006/main">
              <a:ext uri="{FF2B5EF4-FFF2-40B4-BE49-F238E27FC236}">
                <a16:creationId xmlns:a16="http://schemas.microsoft.com/office/drawing/2014/main" id="{F4FCACC8-B0B8-408B-9E60-2F93BF63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한 변수만 바꾸는 실험</a:t>
            </a:r>
          </a:p>
        </p:txBody>
      </p:sp>
      <p:sp>
        <p:nvSpPr>
          <p:cNvPr id="2" name="number-3">
            <a:extLst xmlns:a="http://schemas.openxmlformats.org/drawingml/2006/main">
              <a:ext uri="{FF2B5EF4-FFF2-40B4-BE49-F238E27FC236}">
                <a16:creationId xmlns:a16="http://schemas.microsoft.com/office/drawing/2014/main" id="{99F27ED5-40A6-46CF-B01E-18023EF1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3" name="connector-1">
            <a:extLst xmlns:a="http://schemas.openxmlformats.org/drawingml/2006/main">
              <a:ext uri="{FF2B5EF4-FFF2-40B4-BE49-F238E27FC236}">
                <a16:creationId xmlns:a16="http://schemas.microsoft.com/office/drawing/2014/main" id="{4C77723C-B0BE-43E0-8B76-233DD435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nector-2">
            <a:extLst xmlns:a="http://schemas.openxmlformats.org/drawingml/2006/main">
              <a:ext uri="{FF2B5EF4-FFF2-40B4-BE49-F238E27FC236}">
                <a16:creationId xmlns:a16="http://schemas.microsoft.com/office/drawing/2014/main" id="{D296506D-C947-4630-B27A-34D01396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de-1">
            <a:extLst xmlns:a="http://schemas.openxmlformats.org/drawingml/2006/main">
              <a:ext uri="{FF2B5EF4-FFF2-40B4-BE49-F238E27FC236}">
                <a16:creationId xmlns:a16="http://schemas.microsoft.com/office/drawing/2014/main" id="{98521C48-658A-4256-81BF-FE19929D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현재 지급률</a:t>
            </a:r>
          </a:p>
        </p:txBody>
      </p:sp>
      <p:sp>
        <p:nvSpPr>
          <p:cNvPr id="6" name="node-2">
            <a:extLst xmlns:a="http://schemas.openxmlformats.org/drawingml/2006/main">
              <a:ext uri="{FF2B5EF4-FFF2-40B4-BE49-F238E27FC236}">
                <a16:creationId xmlns:a16="http://schemas.microsoft.com/office/drawing/2014/main" id="{6F0B2DAF-8449-4DB8-9B94-30A0B0DE4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81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 지급량</a:t>
            </a:r>
          </a:p>
        </p:txBody>
      </p:sp>
      <p:sp>
        <p:nvSpPr>
          <p:cNvPr id="7" name="node-3">
            <a:extLst xmlns:a="http://schemas.openxmlformats.org/drawingml/2006/main">
              <a:ext uri="{FF2B5EF4-FFF2-40B4-BE49-F238E27FC236}">
                <a16:creationId xmlns:a16="http://schemas.microsoft.com/office/drawing/2014/main" id="{985C884E-4DE8-4E8B-9C88-58A1AF93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81250"/>
            <a:ext cx="2476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진행 체감</a:t>
            </a:r>
          </a:p>
        </p:txBody>
      </p:sp>
      <p:sp>
        <p:nvSpPr>
          <p:cNvPr id="8" name="diagram-footer">
            <a:extLst xmlns:a="http://schemas.openxmlformats.org/drawingml/2006/main">
              <a:ext uri="{FF2B5EF4-FFF2-40B4-BE49-F238E27FC236}">
                <a16:creationId xmlns:a16="http://schemas.microsoft.com/office/drawing/2014/main" id="{A324C9EB-99F8-44F8-B985-E376EE934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50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가설: 제한된 공급 조정은 인플레이션 없이 진행을 개선한다.</a:t>
            </a:r>
          </a:p>
        </p:txBody>
      </p:sp>
    </p:spTree>
    <p:extLst>
      <p:ext uri="{BB962C8B-B14F-4D97-AF65-F5344CB8AC3E}">
        <p14:creationId xmlns:p14="http://schemas.microsoft.com/office/powerpoint/2010/main" val="7484708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itle-4">
            <a:extLst xmlns:a="http://schemas.openxmlformats.org/drawingml/2006/main">
              <a:ext uri="{FF2B5EF4-FFF2-40B4-BE49-F238E27FC236}">
                <a16:creationId xmlns:a16="http://schemas.microsoft.com/office/drawing/2014/main" id="{466A6DAE-73DE-4BAA-AC1D-2470EF8FF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실험 제어표</a:t>
            </a:r>
          </a:p>
        </p:txBody>
      </p:sp>
      <p:sp>
        <p:nvSpPr>
          <p:cNvPr id="2" name="number-4">
            <a:extLst xmlns:a="http://schemas.openxmlformats.org/drawingml/2006/main">
              <a:ext uri="{FF2B5EF4-FFF2-40B4-BE49-F238E27FC236}">
                <a16:creationId xmlns:a16="http://schemas.microsoft.com/office/drawing/2014/main" id="{8DAF6EB7-94D2-495A-ACFF-9E67E571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4</a:t>
            </a:r>
          </a:p>
        </p:txBody>
      </p:sp>
      <p:sp>
        <p:nvSpPr>
          <p:cNvPr id="3" name="cell-0-0">
            <a:extLst xmlns:a="http://schemas.openxmlformats.org/drawingml/2006/main">
              <a:ext uri="{FF2B5EF4-FFF2-40B4-BE49-F238E27FC236}">
                <a16:creationId xmlns:a16="http://schemas.microsoft.com/office/drawing/2014/main" id="{53790EAD-8693-4112-89C1-0990FB19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287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항목</a:t>
            </a:r>
          </a:p>
        </p:txBody>
      </p:sp>
      <p:sp>
        <p:nvSpPr>
          <p:cNvPr id="4" name="cell-0-1">
            <a:extLst xmlns:a="http://schemas.openxmlformats.org/drawingml/2006/main">
              <a:ext uri="{FF2B5EF4-FFF2-40B4-BE49-F238E27FC236}">
                <a16:creationId xmlns:a16="http://schemas.microsoft.com/office/drawing/2014/main" id="{DD67C0B3-145C-42CA-B227-68858C65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287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계약</a:t>
            </a:r>
          </a:p>
        </p:txBody>
      </p:sp>
      <p:sp>
        <p:nvSpPr>
          <p:cNvPr id="5" name="cell-1-0">
            <a:extLst xmlns:a="http://schemas.openxmlformats.org/drawingml/2006/main">
              <a:ext uri="{FF2B5EF4-FFF2-40B4-BE49-F238E27FC236}">
                <a16:creationId xmlns:a16="http://schemas.microsoft.com/office/drawing/2014/main" id="{1586E1ED-98A4-467C-9E96-C0DBFF80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대조군</a:t>
            </a:r>
          </a:p>
        </p:txBody>
      </p:sp>
      <p:sp>
        <p:nvSpPr>
          <p:cNvPr id="6" name="cell-1-1">
            <a:extLst xmlns:a="http://schemas.openxmlformats.org/drawingml/2006/main">
              <a:ext uri="{FF2B5EF4-FFF2-40B4-BE49-F238E27FC236}">
                <a16:creationId xmlns:a16="http://schemas.microsoft.com/office/drawing/2014/main" id="{D1181565-FD24-4C8A-879B-32A8CCC1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3360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현재 지급률</a:t>
            </a:r>
          </a:p>
        </p:txBody>
      </p:sp>
      <p:sp>
        <p:nvSpPr>
          <p:cNvPr id="7" name="cell-2-0">
            <a:extLst xmlns:a="http://schemas.openxmlformats.org/drawingml/2006/main">
              <a:ext uri="{FF2B5EF4-FFF2-40B4-BE49-F238E27FC236}">
                <a16:creationId xmlns:a16="http://schemas.microsoft.com/office/drawing/2014/main" id="{3395405C-749C-4367-8525-32617BB7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단일 변수</a:t>
            </a:r>
          </a:p>
        </p:txBody>
      </p:sp>
      <p:sp>
        <p:nvSpPr>
          <p:cNvPr id="8" name="cell-2-1">
            <a:extLst xmlns:a="http://schemas.openxmlformats.org/drawingml/2006/main">
              <a:ext uri="{FF2B5EF4-FFF2-40B4-BE49-F238E27FC236}">
                <a16:creationId xmlns:a16="http://schemas.microsoft.com/office/drawing/2014/main" id="{707B90A8-AC76-4630-AD5D-06BFBA60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8384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일일 미션 지급량</a:t>
            </a:r>
          </a:p>
        </p:txBody>
      </p:sp>
      <p:sp>
        <p:nvSpPr>
          <p:cNvPr id="9" name="cell-3-0">
            <a:extLst xmlns:a="http://schemas.openxmlformats.org/drawingml/2006/main">
              <a:ext uri="{FF2B5EF4-FFF2-40B4-BE49-F238E27FC236}">
                <a16:creationId xmlns:a16="http://schemas.microsoft.com/office/drawing/2014/main" id="{E7AA42E6-2A36-4585-BF4D-D894B8ED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4330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</a:t>
            </a:r>
          </a:p>
        </p:txBody>
      </p:sp>
      <p:sp>
        <p:nvSpPr>
          <p:cNvPr id="10" name="cell-3-1">
            <a:extLst xmlns:a="http://schemas.openxmlformats.org/drawingml/2006/main">
              <a:ext uri="{FF2B5EF4-FFF2-40B4-BE49-F238E27FC236}">
                <a16:creationId xmlns:a16="http://schemas.microsoft.com/office/drawing/2014/main" id="{D7F10167-D0FB-4EB1-96F9-8CACAAC6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4330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주간 인플레이션율</a:t>
            </a:r>
          </a:p>
        </p:txBody>
      </p:sp>
      <p:sp>
        <p:nvSpPr>
          <p:cNvPr id="11" name="cell-4-0">
            <a:extLst xmlns:a="http://schemas.openxmlformats.org/drawingml/2006/main">
              <a:ext uri="{FF2B5EF4-FFF2-40B4-BE49-F238E27FC236}">
                <a16:creationId xmlns:a16="http://schemas.microsoft.com/office/drawing/2014/main" id="{1B69BAE7-BEE4-4B11-8BFC-AF876EC2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3714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중단 조건</a:t>
            </a:r>
          </a:p>
        </p:txBody>
      </p:sp>
      <p:sp>
        <p:nvSpPr>
          <p:cNvPr id="12" name="cell-4-1">
            <a:extLst xmlns:a="http://schemas.openxmlformats.org/drawingml/2006/main">
              <a:ext uri="{FF2B5EF4-FFF2-40B4-BE49-F238E27FC236}">
                <a16:creationId xmlns:a16="http://schemas.microsoft.com/office/drawing/2014/main" id="{20126B50-C7AB-4C64-9816-EAF1A4B8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48150"/>
            <a:ext cx="75819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4A3B8"/>
            </a:solidFill>
            <a:prstDash val="solid"/>
          </a:ln>
        </p:spPr>
        <p:txBody>
          <a:bodyPr xmlns:a="http://schemas.openxmlformats.org/drawingml/2006/main" lIns="114300" tIns="95250" rIns="1143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350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 위반</a:t>
            </a:r>
          </a:p>
        </p:txBody>
      </p:sp>
    </p:spTree>
    <p:extLst>
      <p:ext uri="{BB962C8B-B14F-4D97-AF65-F5344CB8AC3E}">
        <p14:creationId xmlns:p14="http://schemas.microsoft.com/office/powerpoint/2010/main" val="19790167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5">
            <a:extLst xmlns:a="http://schemas.openxmlformats.org/drawingml/2006/main">
              <a:ext uri="{FF2B5EF4-FFF2-40B4-BE49-F238E27FC236}">
                <a16:creationId xmlns:a16="http://schemas.microsoft.com/office/drawing/2014/main" id="{EC38FFD6-A7B6-41BC-9248-CC4F6069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운영 가드레일</a:t>
            </a:r>
          </a:p>
        </p:txBody>
      </p:sp>
      <p:sp>
        <p:nvSpPr>
          <p:cNvPr id="2" name="number-5">
            <a:extLst xmlns:a="http://schemas.openxmlformats.org/drawingml/2006/main">
              <a:ext uri="{FF2B5EF4-FFF2-40B4-BE49-F238E27FC236}">
                <a16:creationId xmlns:a16="http://schemas.microsoft.com/office/drawing/2014/main" id="{833372E0-085B-4CC8-AB79-A6722D31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5</a:t>
            </a:r>
          </a:p>
        </p:txBody>
      </p:sp>
      <p:sp>
        <p:nvSpPr>
          <p:cNvPr id="3" name="stat-panel-0">
            <a:extLst xmlns:a="http://schemas.openxmlformats.org/drawingml/2006/main">
              <a:ext uri="{FF2B5EF4-FFF2-40B4-BE49-F238E27FC236}">
                <a16:creationId xmlns:a16="http://schemas.microsoft.com/office/drawing/2014/main" id="{36E98EF8-9FB6-46CA-94C4-A6697B32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35623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tat-0">
            <a:extLst xmlns:a="http://schemas.openxmlformats.org/drawingml/2006/main">
              <a:ext uri="{FF2B5EF4-FFF2-40B4-BE49-F238E27FC236}">
                <a16:creationId xmlns:a16="http://schemas.microsoft.com/office/drawing/2014/main" id="{31371464-8B3C-4E87-AFF6-4366397D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5,000</a:t>
            </a:r>
          </a:p>
        </p:txBody>
      </p:sp>
      <p:sp>
        <p:nvSpPr>
          <p:cNvPr id="5" name="stat-caption-0">
            <a:extLst xmlns:a="http://schemas.openxmlformats.org/drawingml/2006/main">
              <a:ext uri="{FF2B5EF4-FFF2-40B4-BE49-F238E27FC236}">
                <a16:creationId xmlns:a16="http://schemas.microsoft.com/office/drawing/2014/main" id="{6BCF4D95-A893-4FE4-BBD6-CB989FAC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목표 보유량</a:t>
            </a:r>
          </a:p>
        </p:txBody>
      </p:sp>
      <p:sp>
        <p:nvSpPr>
          <p:cNvPr id="6" name="stat-panel-1">
            <a:extLst xmlns:a="http://schemas.openxmlformats.org/drawingml/2006/main">
              <a:ext uri="{FF2B5EF4-FFF2-40B4-BE49-F238E27FC236}">
                <a16:creationId xmlns:a16="http://schemas.microsoft.com/office/drawing/2014/main" id="{0AD34428-AF8C-46A6-9518-8EA6A906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81250"/>
            <a:ext cx="35623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1">
            <a:extLst xmlns:a="http://schemas.openxmlformats.org/drawingml/2006/main">
              <a:ext uri="{FF2B5EF4-FFF2-40B4-BE49-F238E27FC236}">
                <a16:creationId xmlns:a16="http://schemas.microsoft.com/office/drawing/2014/main" id="{E54905A7-630D-4534-8BBF-D5520431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공개</a:t>
            </a:r>
          </a:p>
        </p:txBody>
      </p:sp>
      <p:sp>
        <p:nvSpPr>
          <p:cNvPr id="8" name="stat-caption-1">
            <a:extLst xmlns:a="http://schemas.openxmlformats.org/drawingml/2006/main">
              <a:ext uri="{FF2B5EF4-FFF2-40B4-BE49-F238E27FC236}">
                <a16:creationId xmlns:a16="http://schemas.microsoft.com/office/drawing/2014/main" id="{F5F64F4D-2AD6-4ECE-8B60-A196F624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확률</a:t>
            </a:r>
          </a:p>
        </p:txBody>
      </p:sp>
      <p:sp>
        <p:nvSpPr>
          <p:cNvPr id="9" name="stat-panel-2">
            <a:extLst xmlns:a="http://schemas.openxmlformats.org/drawingml/2006/main">
              <a:ext uri="{FF2B5EF4-FFF2-40B4-BE49-F238E27FC236}">
                <a16:creationId xmlns:a16="http://schemas.microsoft.com/office/drawing/2014/main" id="{A40C8FDA-1419-4186-B425-B85BF64E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381250"/>
            <a:ext cx="35623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t-2">
            <a:extLst xmlns:a="http://schemas.openxmlformats.org/drawingml/2006/main">
              <a:ext uri="{FF2B5EF4-FFF2-40B4-BE49-F238E27FC236}">
                <a16:creationId xmlns:a16="http://schemas.microsoft.com/office/drawing/2014/main" id="{F1C69614-51C2-4B50-9025-6389A201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480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43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숨김 없음</a:t>
            </a:r>
          </a:p>
        </p:txBody>
      </p:sp>
      <p:sp>
        <p:nvSpPr>
          <p:cNvPr id="11" name="stat-caption-2">
            <a:extLst xmlns:a="http://schemas.openxmlformats.org/drawingml/2006/main">
              <a:ext uri="{FF2B5EF4-FFF2-40B4-BE49-F238E27FC236}">
                <a16:creationId xmlns:a16="http://schemas.microsoft.com/office/drawing/2014/main" id="{737AE629-C071-4ED5-88A1-4838CD93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91000"/>
            <a:ext cx="2990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575" b="0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환산</a:t>
            </a:r>
          </a:p>
        </p:txBody>
      </p:sp>
    </p:spTree>
    <p:extLst>
      <p:ext uri="{BB962C8B-B14F-4D97-AF65-F5344CB8AC3E}">
        <p14:creationId xmlns:p14="http://schemas.microsoft.com/office/powerpoint/2010/main" val="20082043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6">
            <a:extLst xmlns:a="http://schemas.openxmlformats.org/drawingml/2006/main">
              <a:ext uri="{FF2B5EF4-FFF2-40B4-BE49-F238E27FC236}">
                <a16:creationId xmlns:a16="http://schemas.microsoft.com/office/drawing/2014/main" id="{8DFD2801-A9ED-4E9A-997B-B88CEA64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0953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85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위반 시 자동 롤백</a:t>
            </a:r>
          </a:p>
        </p:txBody>
      </p:sp>
      <p:sp>
        <p:nvSpPr>
          <p:cNvPr id="2" name="number-6">
            <a:extLst xmlns:a="http://schemas.openxmlformats.org/drawingml/2006/main">
              <a:ext uri="{FF2B5EF4-FFF2-40B4-BE49-F238E27FC236}">
                <a16:creationId xmlns:a16="http://schemas.microsoft.com/office/drawing/2014/main" id="{457E6EB8-433B-4933-809D-6CC3CD1D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3412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75569"/>
                </a:solidFill>
                <a:latin typeface="D2Coding"/>
                <a:ea typeface="D2Coding"/>
                <a:cs typeface="D2Coding"/>
              </a:defRPr>
            </a:pPr>
            <a:r>
              <a:rPr sz="1050" b="0">
                <a:solidFill>
                  <a:srgbClr val="475569"/>
                </a:solidFill>
                <a:latin typeface="D2Coding"/>
                <a:ea typeface="D2Coding"/>
                <a:cs typeface="D2Coding"/>
              </a:rPr>
              <a:t>6</a:t>
            </a:r>
          </a:p>
        </p:txBody>
      </p:sp>
      <p:sp>
        <p:nvSpPr>
          <p:cNvPr id="3" name="step-num-0">
            <a:extLst xmlns:a="http://schemas.openxmlformats.org/drawingml/2006/main">
              <a:ext uri="{FF2B5EF4-FFF2-40B4-BE49-F238E27FC236}">
                <a16:creationId xmlns:a16="http://schemas.microsoft.com/office/drawing/2014/main" id="{76C00F6B-04C0-490B-8B08-B02CE0F8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1</a:t>
            </a:r>
          </a:p>
        </p:txBody>
      </p:sp>
      <p:sp>
        <p:nvSpPr>
          <p:cNvPr id="4" name="step-0">
            <a:extLst xmlns:a="http://schemas.openxmlformats.org/drawingml/2006/main">
              <a:ext uri="{FF2B5EF4-FFF2-40B4-BE49-F238E27FC236}">
                <a16:creationId xmlns:a16="http://schemas.microsoft.com/office/drawing/2014/main" id="{D798D393-5D9D-4C8A-988D-801D5CE0C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192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가드레일 위반 감지</a:t>
            </a:r>
          </a:p>
        </p:txBody>
      </p:sp>
      <p:sp>
        <p:nvSpPr>
          <p:cNvPr id="5" name="step-num-1">
            <a:extLst xmlns:a="http://schemas.openxmlformats.org/drawingml/2006/main">
              <a:ext uri="{FF2B5EF4-FFF2-40B4-BE49-F238E27FC236}">
                <a16:creationId xmlns:a16="http://schemas.microsoft.com/office/drawing/2014/main" id="{BBA7F2E9-B7DA-406D-A2CF-DBA2136C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2</a:t>
            </a:r>
          </a:p>
        </p:txBody>
      </p:sp>
      <p:sp>
        <p:nvSpPr>
          <p:cNvPr id="6" name="step-1">
            <a:extLst xmlns:a="http://schemas.openxmlformats.org/drawingml/2006/main">
              <a:ext uri="{FF2B5EF4-FFF2-40B4-BE49-F238E27FC236}">
                <a16:creationId xmlns:a16="http://schemas.microsoft.com/office/drawing/2014/main" id="{4CB42572-E875-4FB1-8CC8-24F5A028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85750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마지막 정상 설정 복구</a:t>
            </a:r>
          </a:p>
        </p:txBody>
      </p:sp>
      <p:sp>
        <p:nvSpPr>
          <p:cNvPr id="7" name="step-num-2">
            <a:extLst xmlns:a="http://schemas.openxmlformats.org/drawingml/2006/main">
              <a:ext uri="{FF2B5EF4-FFF2-40B4-BE49-F238E27FC236}">
                <a16:creationId xmlns:a16="http://schemas.microsoft.com/office/drawing/2014/main" id="{A1E8D39C-4D54-4555-B9DD-095CD481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2325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3</a:t>
            </a:r>
          </a:p>
        </p:txBody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ED240F37-A454-4056-889A-5C04DB8C9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095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D2Coding"/>
                <a:ea typeface="D2Coding"/>
                <a:cs typeface="D2Coding"/>
              </a:defRPr>
            </a:pPr>
            <a:r>
              <a:rPr sz="1800" b="1">
                <a:solidFill>
                  <a:srgbClr val="0F172A"/>
                </a:solidFill>
                <a:latin typeface="D2Coding"/>
                <a:ea typeface="D2Coding"/>
                <a:cs typeface="D2Coding"/>
              </a:rPr>
              <a:t>원장 정합성 확인 및 알림</a:t>
            </a:r>
          </a:p>
        </p:txBody>
      </p:sp>
    </p:spTree>
    <p:extLst>
      <p:ext uri="{BB962C8B-B14F-4D97-AF65-F5344CB8AC3E}">
        <p14:creationId xmlns:p14="http://schemas.microsoft.com/office/powerpoint/2010/main" val="18857312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2026-08-05T04:22:29.6640000Z</dcterms:created>
  <dcterms:modified xsi:type="dcterms:W3CDTF">2026-08-05T04:22:29.6640000Z</dcterms:modified>
</coreProperties>
</file>