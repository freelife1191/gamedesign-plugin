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f7ba593d6d493a" /><Relationship Type="http://schemas.openxmlformats.org/officeDocument/2006/relationships/extended-properties" Target="/docProps/app.xml" Id="Rc1f15fed1c5d4449" /><Relationship Type="http://schemas.openxmlformats.org/officeDocument/2006/relationships/officeDocument" Target="/ppt/presentation.xml" Id="R77bbe35ff7504e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878b80a064f6f"/>
  </p:sldMasterIdLst>
  <p:notesMasterIdLst>
    <p:notesMasterId xmlns:r="http://schemas.openxmlformats.org/officeDocument/2006/relationships" r:id="R249e77450530425c"/>
  </p:notesMasterIdLst>
  <p:sldIdLst>
    <p:sldId xmlns:r="http://schemas.openxmlformats.org/officeDocument/2006/relationships" id="256" r:id="R789928fe4dc848a4"/>
    <p:sldId xmlns:r="http://schemas.openxmlformats.org/officeDocument/2006/relationships" id="257" r:id="R3b0076090e914e27"/>
    <p:sldId xmlns:r="http://schemas.openxmlformats.org/officeDocument/2006/relationships" id="258" r:id="Rb080af673a474b2e"/>
    <p:sldId xmlns:r="http://schemas.openxmlformats.org/officeDocument/2006/relationships" id="259" r:id="R09559fd4c1ce4eb0"/>
    <p:sldId xmlns:r="http://schemas.openxmlformats.org/officeDocument/2006/relationships" id="260" r:id="R33f4d78f4cfc4c24"/>
    <p:sldId xmlns:r="http://schemas.openxmlformats.org/officeDocument/2006/relationships" id="261" r:id="R6b07ac4c3ba2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1c65503a2419e" /><Relationship Type="http://schemas.openxmlformats.org/officeDocument/2006/relationships/slideMaster" Target="/ppt/slideMasters/slideMaster1.xml" Id="R82a878b80a064f6f" /><Relationship Type="http://schemas.openxmlformats.org/officeDocument/2006/relationships/notesMaster" Target="/ppt/notesMasters/notesMaster1.xml" Id="R249e77450530425c" /><Relationship Type="http://schemas.openxmlformats.org/officeDocument/2006/relationships/presProps" Target="/ppt/presProps.xml" Id="Rd1da4a1f8bea4342" /><Relationship Type="http://schemas.openxmlformats.org/officeDocument/2006/relationships/tableStyles" Target="/ppt/tableStyles.xml" Id="R136024b508264fc0" /><Relationship Type="http://schemas.openxmlformats.org/officeDocument/2006/relationships/slide" Target="/ppt/slides/slide1.xml" Id="R789928fe4dc848a4" /><Relationship Type="http://schemas.openxmlformats.org/officeDocument/2006/relationships/slide" Target="/ppt/slides/slide2.xml" Id="R3b0076090e914e27" /><Relationship Type="http://schemas.openxmlformats.org/officeDocument/2006/relationships/slide" Target="/ppt/slides/slide3.xml" Id="Rb080af673a474b2e" /><Relationship Type="http://schemas.openxmlformats.org/officeDocument/2006/relationships/slide" Target="/ppt/slides/slide4.xml" Id="R09559fd4c1ce4eb0" /><Relationship Type="http://schemas.openxmlformats.org/officeDocument/2006/relationships/slide" Target="/ppt/slides/slide5.xml" Id="R33f4d78f4cfc4c24" /><Relationship Type="http://schemas.openxmlformats.org/officeDocument/2006/relationships/slide" Target="/ppt/slides/slide6.xml" Id="R6b07ac4c3ba2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078f46489b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abaa5975374148" /><Relationship Type="http://schemas.openxmlformats.org/officeDocument/2006/relationships/notesMaster" Target="/ppt/notesMasters/notesMaster1.xml" Id="R5b013af8834b45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061bd82fef4f40" /><Relationship Type="http://schemas.openxmlformats.org/officeDocument/2006/relationships/notesMaster" Target="/ppt/notesMasters/notesMaster1.xml" Id="R6bc9fb9d0c0a47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b6291624ba4db6" /><Relationship Type="http://schemas.openxmlformats.org/officeDocument/2006/relationships/notesMaster" Target="/ppt/notesMasters/notesMaster1.xml" Id="R49abd1d530f844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9eb41a12345ff" /><Relationship Type="http://schemas.openxmlformats.org/officeDocument/2006/relationships/notesMaster" Target="/ppt/notesMasters/notesMaster1.xml" Id="R70c8a1b9bc60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a02811c8f1452b" /><Relationship Type="http://schemas.openxmlformats.org/officeDocument/2006/relationships/notesMaster" Target="/ppt/notesMasters/notesMaster1.xml" Id="R3a02b91a97804a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a76c4276224c65" /><Relationship Type="http://schemas.openxmlformats.org/officeDocument/2006/relationships/notesMaster" Target="/ppt/notesMasters/notesMaster1.xml" Id="R4bb959cd52714d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request.json#/availableHoursPerWeek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result.json#/roleCandidates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result.json#/evidenceGaps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result.json#/weeks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request.json#/availableHoursPerWeek</a:t>
            </a:r>
          </a:p>
          <a:p xmlns:a="http://schemas.openxmlformats.org/drawingml/2006/main">
            <a:r>
              <a:t>- result.json#/roleCandidates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result.json#/firstPortfolioBrief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7bc50c3444f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a4499791d1495c" /><Relationship Type="http://schemas.openxmlformats.org/officeDocument/2006/relationships/slideLayout" Target="/ppt/slideLayouts/slideLayout1.xml" Id="Rf3a89ef0604240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89ef0604240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74ed577224046" /><Relationship Type="http://schemas.openxmlformats.org/officeDocument/2006/relationships/notesSlide" Target="/ppt/notesSlides/notesSlide1.xml" Id="Rddda1f24a164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d7a5bd4324303" /><Relationship Type="http://schemas.openxmlformats.org/officeDocument/2006/relationships/notesSlide" Target="/ppt/notesSlides/notesSlide2.xml" Id="R7af855b0a05e4c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bc26486404092" /><Relationship Type="http://schemas.openxmlformats.org/officeDocument/2006/relationships/notesSlide" Target="/ppt/notesSlides/notesSlide3.xml" Id="Rdd964d6395c54c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a04d90cd74a8e" /><Relationship Type="http://schemas.openxmlformats.org/officeDocument/2006/relationships/notesSlide" Target="/ppt/notesSlides/notesSlide4.xml" Id="R259fc5935eb946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1a655df2449e2" /><Relationship Type="http://schemas.openxmlformats.org/officeDocument/2006/relationships/notesSlide" Target="/ppt/notesSlides/notesSlide5.xml" Id="R3bf799cb0b814e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e83096f3541ca" /><Relationship Type="http://schemas.openxmlformats.org/officeDocument/2006/relationships/notesSlide" Target="/ppt/notesSlides/notesSlide6.xml" Id="Rf98065b75d6a43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E2D217A-2749-48E7-9041-7332C0C6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D2Coding"/>
                <a:ea typeface="D2Coding"/>
                <a:cs typeface="D2Coding"/>
              </a:defRPr>
            </a:pPr>
            <a:r>
              <a:rPr sz="1200" b="1">
                <a:solidFill>
                  <a:srgbClr val="3D8DFF"/>
                </a:solidFill>
                <a:latin typeface="D2Coding"/>
                <a:ea typeface="D2Coding"/>
                <a:cs typeface="D2Coding"/>
              </a:rPr>
              <a:t>GAME DESIGN · EVIDENCE BRIEF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B1087DC-B66A-4D5F-9C53-1CEF88DB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입문 게임 디자이너</a:t>
            </a:r>
          </a:p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12주 로드맵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7B4FFE1-05FA-4F3E-B695-D2BA9470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80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주 8시간 · 작은 솔로 프로토타입</a:t>
            </a:r>
          </a:p>
        </p:txBody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7FADE4B5-885F-4DFD-95CB-6363D26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143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mark">
            <a:extLst xmlns:a="http://schemas.openxmlformats.org/drawingml/2006/main">
              <a:ext uri="{FF2B5EF4-FFF2-40B4-BE49-F238E27FC236}">
                <a16:creationId xmlns:a16="http://schemas.microsoft.com/office/drawing/2014/main" id="{16AE0822-39D9-44D7-9982-5D3FF78C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0" b="1">
                <a:solidFill>
                  <a:srgbClr val="3D8DFF"/>
                </a:solidFill>
                <a:latin typeface="D2Coding"/>
                <a:ea typeface="D2Coding"/>
                <a:cs typeface="D2Coding"/>
              </a:defRPr>
            </a:pPr>
            <a:r>
              <a:rPr sz="8250" b="1">
                <a:solidFill>
                  <a:srgbClr val="3D8DFF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6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0261FD3E-F476-417F-A305-E44B034A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주</a:t>
            </a:r>
          </a:p>
        </p:txBody>
      </p:sp>
    </p:spTree>
    <p:extLst>
      <p:ext uri="{BB962C8B-B14F-4D97-AF65-F5344CB8AC3E}">
        <p14:creationId xmlns:p14="http://schemas.microsoft.com/office/powerpoint/2010/main" val="445010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2">
            <a:extLst xmlns:a="http://schemas.openxmlformats.org/drawingml/2006/main">
              <a:ext uri="{FF2B5EF4-FFF2-40B4-BE49-F238E27FC236}">
                <a16:creationId xmlns:a16="http://schemas.microsoft.com/office/drawing/2014/main" id="{2B68ACA3-2EB7-45E6-A488-A20E5FF3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두 역할 후보를 증거로 비교한다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D3762AA9-0051-4912-A344-7AB2C5CA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2</a:t>
            </a:r>
          </a:p>
        </p:txBody>
      </p:sp>
      <p:sp>
        <p:nvSpPr>
          <p:cNvPr id="3" name="half-body">
            <a:extLst xmlns:a="http://schemas.openxmlformats.org/drawingml/2006/main">
              <a:ext uri="{FF2B5EF4-FFF2-40B4-BE49-F238E27FC236}">
                <a16:creationId xmlns:a16="http://schemas.microsoft.com/office/drawing/2014/main" id="{CA9925F2-E5B3-4A43-8907-EC04F9C2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시스템 디자인은 규칙·예외·데이터와</a:t>
            </a:r>
          </a:p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플레이테스트 증거가 필요하다.</a:t>
            </a:r>
          </a:p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콘텐츠 디자인은 반복 구조·페이싱과</a:t>
            </a:r>
          </a:p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제작 핸드오프가 필요하다.</a:t>
            </a:r>
          </a:p>
        </p:txBody>
      </p:sp>
      <p:sp>
        <p:nvSpPr>
          <p:cNvPr id="4" name="half-visual">
            <a:extLst xmlns:a="http://schemas.openxmlformats.org/drawingml/2006/main">
              <a:ext uri="{FF2B5EF4-FFF2-40B4-BE49-F238E27FC236}">
                <a16:creationId xmlns:a16="http://schemas.microsoft.com/office/drawing/2014/main" id="{8CF61DE9-B439-45C0-BB08-1F4B913F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5054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half-signal">
            <a:extLst xmlns:a="http://schemas.openxmlformats.org/drawingml/2006/main">
              <a:ext uri="{FF2B5EF4-FFF2-40B4-BE49-F238E27FC236}">
                <a16:creationId xmlns:a16="http://schemas.microsoft.com/office/drawing/2014/main" id="{0D5F9126-0825-4E60-B204-80D5EB18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3D8DFF"/>
                </a:solidFill>
                <a:latin typeface="D2Coding"/>
                <a:ea typeface="D2Coding"/>
                <a:cs typeface="D2Coding"/>
              </a:defRPr>
            </a:pPr>
            <a:r>
              <a:rPr sz="5550" b="1">
                <a:solidFill>
                  <a:srgbClr val="3D8DFF"/>
                </a:solidFill>
                <a:latin typeface="D2Coding"/>
                <a:ea typeface="D2Coding"/>
                <a:cs typeface="D2Coding"/>
              </a:rPr>
              <a:t>2</a:t>
            </a:r>
          </a:p>
        </p:txBody>
      </p:sp>
      <p:sp>
        <p:nvSpPr>
          <p:cNvPr id="6" name="half-caption">
            <a:extLst xmlns:a="http://schemas.openxmlformats.org/drawingml/2006/main">
              <a:ext uri="{FF2B5EF4-FFF2-40B4-BE49-F238E27FC236}">
                <a16:creationId xmlns:a16="http://schemas.microsoft.com/office/drawing/2014/main" id="{88F84F05-8D6A-4308-97F1-8E273BBE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역할 후보</a:t>
            </a:r>
          </a:p>
        </p:txBody>
      </p:sp>
    </p:spTree>
    <p:extLst>
      <p:ext uri="{BB962C8B-B14F-4D97-AF65-F5344CB8AC3E}">
        <p14:creationId xmlns:p14="http://schemas.microsoft.com/office/powerpoint/2010/main" val="535823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3">
            <a:extLst xmlns:a="http://schemas.openxmlformats.org/drawingml/2006/main">
              <a:ext uri="{FF2B5EF4-FFF2-40B4-BE49-F238E27FC236}">
                <a16:creationId xmlns:a16="http://schemas.microsoft.com/office/drawing/2014/main" id="{0F5998E9-C230-443B-932E-529D94C3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공백에서 증거로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B7076162-907F-4DA6-80C8-D73F4A4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3" name="connector-1">
            <a:extLst xmlns:a="http://schemas.openxmlformats.org/drawingml/2006/main">
              <a:ext uri="{FF2B5EF4-FFF2-40B4-BE49-F238E27FC236}">
                <a16:creationId xmlns:a16="http://schemas.microsoft.com/office/drawing/2014/main" id="{EAD62E5F-A7B3-4CA8-B620-3231A6D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nector-2">
            <a:extLst xmlns:a="http://schemas.openxmlformats.org/drawingml/2006/main">
              <a:ext uri="{FF2B5EF4-FFF2-40B4-BE49-F238E27FC236}">
                <a16:creationId xmlns:a16="http://schemas.microsoft.com/office/drawing/2014/main" id="{21E11897-4607-444C-9C3A-5A9CBBA4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9EE2F986-FBEE-4847-9391-A278131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규칙·예외 공백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A46F532D-F346-4EE7-9671-D2171856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주간 연습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649ABF29-581D-4107-8A3C-993D8D8F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규칙 시트</a:t>
            </a:r>
          </a:p>
        </p:txBody>
      </p:sp>
      <p:sp>
        <p:nvSpPr>
          <p:cNvPr id="8" name="diagram-footer">
            <a:extLst xmlns:a="http://schemas.openxmlformats.org/drawingml/2006/main">
              <a:ext uri="{FF2B5EF4-FFF2-40B4-BE49-F238E27FC236}">
                <a16:creationId xmlns:a16="http://schemas.microsoft.com/office/drawing/2014/main" id="{75F54342-9582-47EF-AA89-2A524A63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50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플레이테스트 학습 공백은 관찰 세션과 결정 로그로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838427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4">
            <a:extLst xmlns:a="http://schemas.openxmlformats.org/drawingml/2006/main">
              <a:ext uri="{FF2B5EF4-FFF2-40B4-BE49-F238E27FC236}">
                <a16:creationId xmlns:a16="http://schemas.microsoft.com/office/drawing/2014/main" id="{BBCDD95F-775C-4C1E-833B-2B98B2CB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12주 실행 리듬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55E9DFCC-3457-4F99-80E5-C9428037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3" name="cell-0-0">
            <a:extLst xmlns:a="http://schemas.openxmlformats.org/drawingml/2006/main">
              <a:ext uri="{FF2B5EF4-FFF2-40B4-BE49-F238E27FC236}">
                <a16:creationId xmlns:a16="http://schemas.microsoft.com/office/drawing/2014/main" id="{E949515E-6017-42A4-B8E7-AAADC3BB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구간</a:t>
            </a:r>
          </a:p>
        </p:txBody>
      </p:sp>
      <p:sp>
        <p:nvSpPr>
          <p:cNvPr id="4" name="cell-0-1">
            <a:extLst xmlns:a="http://schemas.openxmlformats.org/drawingml/2006/main">
              <a:ext uri="{FF2B5EF4-FFF2-40B4-BE49-F238E27FC236}">
                <a16:creationId xmlns:a16="http://schemas.microsoft.com/office/drawing/2014/main" id="{7A020E8F-6AAC-433C-B639-905BBBBE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287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학습 초점</a:t>
            </a:r>
          </a:p>
        </p:txBody>
      </p:sp>
      <p:sp>
        <p:nvSpPr>
          <p:cNvPr id="5" name="cell-0-2">
            <a:extLst xmlns:a="http://schemas.openxmlformats.org/drawingml/2006/main">
              <a:ext uri="{FF2B5EF4-FFF2-40B4-BE49-F238E27FC236}">
                <a16:creationId xmlns:a16="http://schemas.microsoft.com/office/drawing/2014/main" id="{0E511EE6-179D-4539-81DC-CCB05797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28750"/>
            <a:ext cx="6248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증거</a:t>
            </a:r>
          </a:p>
        </p:txBody>
      </p:sp>
      <p:sp>
        <p:nvSpPr>
          <p:cNvPr id="6" name="cell-1-0">
            <a:extLst xmlns:a="http://schemas.openxmlformats.org/drawingml/2006/main">
              <a:ext uri="{FF2B5EF4-FFF2-40B4-BE49-F238E27FC236}">
                <a16:creationId xmlns:a16="http://schemas.microsoft.com/office/drawing/2014/main" id="{627B7202-F72C-4BF0-8A76-7BBC7DC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1-4주</a:t>
            </a:r>
          </a:p>
        </p:txBody>
      </p:sp>
      <p:sp>
        <p:nvSpPr>
          <p:cNvPr id="7" name="cell-1-1">
            <a:extLst xmlns:a="http://schemas.openxmlformats.org/drawingml/2006/main">
              <a:ext uri="{FF2B5EF4-FFF2-40B4-BE49-F238E27FC236}">
                <a16:creationId xmlns:a16="http://schemas.microsoft.com/office/drawing/2014/main" id="{755EA783-2FF9-45F2-B0E0-7831E228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336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루프·상태·예외·데이터</a:t>
            </a:r>
          </a:p>
        </p:txBody>
      </p:sp>
      <p:sp>
        <p:nvSpPr>
          <p:cNvPr id="8" name="cell-1-2">
            <a:extLst xmlns:a="http://schemas.openxmlformats.org/drawingml/2006/main">
              <a:ext uri="{FF2B5EF4-FFF2-40B4-BE49-F238E27FC236}">
                <a16:creationId xmlns:a16="http://schemas.microsoft.com/office/drawing/2014/main" id="{7A993964-5679-45DB-8195-971D2863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33600"/>
            <a:ext cx="6248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상태표</a:t>
            </a:r>
          </a:p>
        </p:txBody>
      </p:sp>
      <p:sp>
        <p:nvSpPr>
          <p:cNvPr id="9" name="cell-2-0">
            <a:extLst xmlns:a="http://schemas.openxmlformats.org/drawingml/2006/main">
              <a:ext uri="{FF2B5EF4-FFF2-40B4-BE49-F238E27FC236}">
                <a16:creationId xmlns:a16="http://schemas.microsoft.com/office/drawing/2014/main" id="{DA484E96-463A-4039-8CB9-54E6957A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5-8주</a:t>
            </a:r>
          </a:p>
        </p:txBody>
      </p:sp>
      <p:sp>
        <p:nvSpPr>
          <p:cNvPr id="10" name="cell-2-1">
            <a:extLst xmlns:a="http://schemas.openxmlformats.org/drawingml/2006/main">
              <a:ext uri="{FF2B5EF4-FFF2-40B4-BE49-F238E27FC236}">
                <a16:creationId xmlns:a16="http://schemas.microsoft.com/office/drawing/2014/main" id="{D17B2D85-D426-4054-B7D8-B237FEE5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384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UI·범위·관찰·반복</a:t>
            </a:r>
          </a:p>
        </p:txBody>
      </p:sp>
      <p:sp>
        <p:nvSpPr>
          <p:cNvPr id="11" name="cell-2-2">
            <a:extLst xmlns:a="http://schemas.openxmlformats.org/drawingml/2006/main">
              <a:ext uri="{FF2B5EF4-FFF2-40B4-BE49-F238E27FC236}">
                <a16:creationId xmlns:a16="http://schemas.microsoft.com/office/drawing/2014/main" id="{39299525-AE35-4F74-8A4A-3E49BD56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38450"/>
            <a:ext cx="6248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결정 추적</a:t>
            </a:r>
          </a:p>
        </p:txBody>
      </p:sp>
      <p:sp>
        <p:nvSpPr>
          <p:cNvPr id="12" name="cell-3-0">
            <a:extLst xmlns:a="http://schemas.openxmlformats.org/drawingml/2006/main">
              <a:ext uri="{FF2B5EF4-FFF2-40B4-BE49-F238E27FC236}">
                <a16:creationId xmlns:a16="http://schemas.microsoft.com/office/drawing/2014/main" id="{3D71ACE7-DEEB-464A-A6ED-8EB36E96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9-12주</a:t>
            </a:r>
          </a:p>
        </p:txBody>
      </p:sp>
      <p:sp>
        <p:nvSpPr>
          <p:cNvPr id="13" name="cell-3-1">
            <a:extLst xmlns:a="http://schemas.openxmlformats.org/drawingml/2006/main">
              <a:ext uri="{FF2B5EF4-FFF2-40B4-BE49-F238E27FC236}">
                <a16:creationId xmlns:a16="http://schemas.microsoft.com/office/drawing/2014/main" id="{BED8197C-41DB-435F-A19B-6985EE5D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43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대안·핸드오프·포트폴리오·회고</a:t>
            </a:r>
          </a:p>
        </p:txBody>
      </p:sp>
      <p:sp>
        <p:nvSpPr>
          <p:cNvPr id="14" name="cell-3-2">
            <a:extLst xmlns:a="http://schemas.openxmlformats.org/drawingml/2006/main">
              <a:ext uri="{FF2B5EF4-FFF2-40B4-BE49-F238E27FC236}">
                <a16:creationId xmlns:a16="http://schemas.microsoft.com/office/drawing/2014/main" id="{1FF532C7-CCFC-4AFA-94E9-84332865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43300"/>
            <a:ext cx="6248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  <p:txBody>
          <a:bodyPr xmlns:a="http://schemas.openxmlformats.org/drawingml/2006/main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제한된 산출물</a:t>
            </a:r>
          </a:p>
        </p:txBody>
      </p:sp>
    </p:spTree>
    <p:extLst>
      <p:ext uri="{BB962C8B-B14F-4D97-AF65-F5344CB8AC3E}">
        <p14:creationId xmlns:p14="http://schemas.microsoft.com/office/powerpoint/2010/main" val="1916973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427F5156-FC39-4DA3-A599-C8813201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작게 시작하는 제약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4C569912-86E6-4B92-9F61-D5069FA5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5</a:t>
            </a:r>
          </a:p>
        </p:txBody>
      </p:sp>
      <p:sp>
        <p:nvSpPr>
          <p:cNvPr id="3" name="stat-panel-0">
            <a:extLst xmlns:a="http://schemas.openxmlformats.org/drawingml/2006/main">
              <a:ext uri="{FF2B5EF4-FFF2-40B4-BE49-F238E27FC236}">
                <a16:creationId xmlns:a16="http://schemas.microsoft.com/office/drawing/2014/main" id="{01DD58B6-8B57-4D0A-9716-D9A3D78B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t-0">
            <a:extLst xmlns:a="http://schemas.openxmlformats.org/drawingml/2006/main">
              <a:ext uri="{FF2B5EF4-FFF2-40B4-BE49-F238E27FC236}">
                <a16:creationId xmlns:a16="http://schemas.microsoft.com/office/drawing/2014/main" id="{11DE106F-90F9-44C2-8B94-0E0CBCAD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12주</a:t>
            </a:r>
          </a:p>
        </p:txBody>
      </p:sp>
      <p:sp>
        <p:nvSpPr>
          <p:cNvPr id="5" name="stat-caption-0">
            <a:extLst xmlns:a="http://schemas.openxmlformats.org/drawingml/2006/main">
              <a:ext uri="{FF2B5EF4-FFF2-40B4-BE49-F238E27FC236}">
                <a16:creationId xmlns:a16="http://schemas.microsoft.com/office/drawing/2014/main" id="{532A16EE-7C1B-4115-AEB4-1F815C4B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90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기간</a:t>
            </a:r>
          </a:p>
        </p:txBody>
      </p:sp>
      <p:sp>
        <p:nvSpPr>
          <p:cNvPr id="6" name="stat-panel-1">
            <a:extLst xmlns:a="http://schemas.openxmlformats.org/drawingml/2006/main">
              <a:ext uri="{FF2B5EF4-FFF2-40B4-BE49-F238E27FC236}">
                <a16:creationId xmlns:a16="http://schemas.microsoft.com/office/drawing/2014/main" id="{FD704BA1-E1DF-49B0-BF50-D1119615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B2067A3E-BCF2-4916-A0C2-461C75AA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8시간</a:t>
            </a:r>
          </a:p>
        </p:txBody>
      </p:sp>
      <p:sp>
        <p:nvSpPr>
          <p:cNvPr id="8" name="stat-caption-1">
            <a:extLst xmlns:a="http://schemas.openxmlformats.org/drawingml/2006/main">
              <a:ext uri="{FF2B5EF4-FFF2-40B4-BE49-F238E27FC236}">
                <a16:creationId xmlns:a16="http://schemas.microsoft.com/office/drawing/2014/main" id="{D8239DBF-4E9F-47E9-B37B-7252FAB6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91000"/>
            <a:ext cx="2990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주당 가용 시간</a:t>
            </a:r>
          </a:p>
        </p:txBody>
      </p:sp>
      <p:sp>
        <p:nvSpPr>
          <p:cNvPr id="9" name="stat-panel-2">
            <a:extLst xmlns:a="http://schemas.openxmlformats.org/drawingml/2006/main">
              <a:ext uri="{FF2B5EF4-FFF2-40B4-BE49-F238E27FC236}">
                <a16:creationId xmlns:a16="http://schemas.microsoft.com/office/drawing/2014/main" id="{9D216D21-BB00-4EDD-815C-E7357A5C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562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-2">
            <a:extLst xmlns:a="http://schemas.openxmlformats.org/drawingml/2006/main">
              <a:ext uri="{FF2B5EF4-FFF2-40B4-BE49-F238E27FC236}">
                <a16:creationId xmlns:a16="http://schemas.microsoft.com/office/drawing/2014/main" id="{D99D769C-1B7B-4C86-9EDB-F56F017E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43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2개</a:t>
            </a:r>
          </a:p>
        </p:txBody>
      </p:sp>
      <p:sp>
        <p:nvSpPr>
          <p:cNvPr id="11" name="stat-caption-2">
            <a:extLst xmlns:a="http://schemas.openxmlformats.org/drawingml/2006/main">
              <a:ext uri="{FF2B5EF4-FFF2-40B4-BE49-F238E27FC236}">
                <a16:creationId xmlns:a16="http://schemas.microsoft.com/office/drawing/2014/main" id="{0B09C649-15E8-4C75-93E9-383AF071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91000"/>
            <a:ext cx="2990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575" b="0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역할 후보</a:t>
            </a:r>
          </a:p>
        </p:txBody>
      </p:sp>
    </p:spTree>
    <p:extLst>
      <p:ext uri="{BB962C8B-B14F-4D97-AF65-F5344CB8AC3E}">
        <p14:creationId xmlns:p14="http://schemas.microsoft.com/office/powerpoint/2010/main" val="103207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6">
            <a:extLst xmlns:a="http://schemas.openxmlformats.org/drawingml/2006/main">
              <a:ext uri="{FF2B5EF4-FFF2-40B4-BE49-F238E27FC236}">
                <a16:creationId xmlns:a16="http://schemas.microsoft.com/office/drawing/2014/main" id="{19A93F43-873D-4A13-AF1C-975E1C0F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85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첫 포트폴리오 브리프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49EEACF3-F4FB-467D-A70F-552A5593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0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6</a:t>
            </a:r>
          </a:p>
        </p:txBody>
      </p:sp>
      <p:sp>
        <p:nvSpPr>
          <p:cNvPr id="3" name="step-num-0">
            <a:extLst xmlns:a="http://schemas.openxmlformats.org/drawingml/2006/main">
              <a:ext uri="{FF2B5EF4-FFF2-40B4-BE49-F238E27FC236}">
                <a16:creationId xmlns:a16="http://schemas.microsoft.com/office/drawing/2014/main" id="{5A8ACB70-1C5C-44ED-9FEB-29039593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1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F3402A82-AD06-4A09-AF2F-E37952B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19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한 자원과 회복 상태 정의</a:t>
            </a:r>
          </a:p>
        </p:txBody>
      </p:sp>
      <p:sp>
        <p:nvSpPr>
          <p:cNvPr id="5" name="step-num-1">
            <a:extLst xmlns:a="http://schemas.openxmlformats.org/drawingml/2006/main">
              <a:ext uri="{FF2B5EF4-FFF2-40B4-BE49-F238E27FC236}">
                <a16:creationId xmlns:a16="http://schemas.microsoft.com/office/drawing/2014/main" id="{90557E42-A208-45C0-BDCE-5141A543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2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E47F1106-8135-4E91-B101-4F5145D0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575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자동·사용자 유발 회복 비교</a:t>
            </a:r>
          </a:p>
        </p:txBody>
      </p:sp>
      <p:sp>
        <p:nvSpPr>
          <p:cNvPr id="7" name="step-num-2">
            <a:extLst xmlns:a="http://schemas.openxmlformats.org/drawingml/2006/main">
              <a:ext uri="{FF2B5EF4-FFF2-40B4-BE49-F238E27FC236}">
                <a16:creationId xmlns:a16="http://schemas.microsoft.com/office/drawing/2014/main" id="{08E13915-281E-4EFA-9952-E92A3EA9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2325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8895112E-55A9-44A2-A71C-6B1DB74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D2Coding"/>
                <a:ea typeface="D2Coding"/>
                <a:cs typeface="D2Coding"/>
              </a:defRPr>
            </a:pPr>
            <a:r>
              <a:rPr sz="1800" b="1">
                <a:solidFill>
                  <a:srgbClr val="0F172A"/>
                </a:solidFill>
                <a:latin typeface="D2Coding"/>
                <a:ea typeface="D2Coding"/>
                <a:cs typeface="D2Coding"/>
              </a:rPr>
              <a:t>상태표와 3회 관찰로 검증</a:t>
            </a:r>
          </a:p>
        </p:txBody>
      </p:sp>
      <p:sp>
        <p:nvSpPr>
          <p:cNvPr id="9" name="result-status">
            <a:extLst xmlns:a="http://schemas.openxmlformats.org/drawingml/2006/main">
              <a:ext uri="{FF2B5EF4-FFF2-40B4-BE49-F238E27FC236}">
                <a16:creationId xmlns:a16="http://schemas.microsoft.com/office/drawing/2014/main" id="{E341CBF1-DF50-40B0-B769-5E4C267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D2Coding"/>
                <a:ea typeface="D2Coding"/>
                <a:cs typeface="D2Coding"/>
              </a:defRPr>
            </a:pPr>
            <a:r>
              <a:rPr sz="1350" b="0">
                <a:solidFill>
                  <a:srgbClr val="475569"/>
                </a:solidFill>
                <a:latin typeface="D2Coding"/>
                <a:ea typeface="D2Coding"/>
                <a:cs typeface="D2Coding"/>
              </a:rPr>
              <a:t>결과는 증거 대기: 세션 전 성과를 주장하지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89611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2026-08-13T10:06:43.3900000Z</dcterms:created>
  <dcterms:modified xsi:type="dcterms:W3CDTF">2026-08-13T10:06:43.3900000Z</dcterms:modified>
</coreProperties>
</file>